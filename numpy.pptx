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notesMasterIdLst>
    <p:notesMasterId r:id="rId17"/>
  </p:notesMasterIdLst>
  <p:sldIdLst>
    <p:sldId id="256" r:id="rId2"/>
    <p:sldId id="257" r:id="rId3"/>
    <p:sldId id="268" r:id="rId4"/>
    <p:sldId id="270" r:id="rId5"/>
    <p:sldId id="258" r:id="rId6"/>
    <p:sldId id="260" r:id="rId7"/>
    <p:sldId id="261" r:id="rId8"/>
    <p:sldId id="265" r:id="rId9"/>
    <p:sldId id="259" r:id="rId10"/>
    <p:sldId id="262" r:id="rId11"/>
    <p:sldId id="267" r:id="rId12"/>
    <p:sldId id="271" r:id="rId13"/>
    <p:sldId id="272" r:id="rId14"/>
    <p:sldId id="266" r:id="rId15"/>
    <p:sldId id="269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553" autoAdjust="0"/>
  </p:normalViewPr>
  <p:slideViewPr>
    <p:cSldViewPr snapToGrid="0">
      <p:cViewPr varScale="1">
        <p:scale>
          <a:sx n="122" d="100"/>
          <a:sy n="122" d="100"/>
        </p:scale>
        <p:origin x="17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5D42F-CFEF-4833-8777-8C27669CCDA7}" type="datetimeFigureOut">
              <a:rPr lang="zh-TW" altLang="en-US" smtClean="0"/>
              <a:t>2023/9/20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D5769-C9B2-4440-B6A4-05D23B84A5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03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今天要報告的題目是 </a:t>
            </a:r>
            <a:r>
              <a:rPr lang="en-US" altLang="zh-TW" dirty="0"/>
              <a:t>python</a:t>
            </a:r>
            <a:r>
              <a:rPr lang="zh-TW" altLang="en-US" dirty="0"/>
              <a:t>的資料處理 使用</a:t>
            </a:r>
            <a:r>
              <a:rPr lang="en-US" altLang="zh-TW" dirty="0" err="1"/>
              <a:t>numpy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D5769-C9B2-4440-B6A4-05D23B84A54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0075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講到</a:t>
            </a:r>
            <a:r>
              <a:rPr lang="en-US" altLang="zh-TW" dirty="0"/>
              <a:t>python</a:t>
            </a:r>
            <a:r>
              <a:rPr lang="zh-TW" altLang="en-US" dirty="0"/>
              <a:t>的資料處理 就要提一下</a:t>
            </a:r>
            <a:r>
              <a:rPr lang="en-US" altLang="zh-TW" dirty="0"/>
              <a:t>numpy </a:t>
            </a:r>
            <a:r>
              <a:rPr lang="zh-TW" altLang="en-US" dirty="0"/>
              <a:t>跟</a:t>
            </a:r>
            <a:r>
              <a:rPr lang="en-US" altLang="zh-TW" dirty="0"/>
              <a:t>pandas</a:t>
            </a:r>
          </a:p>
          <a:p>
            <a:r>
              <a:rPr lang="en-US" altLang="zh-TW" dirty="0"/>
              <a:t>numpy</a:t>
            </a:r>
            <a:r>
              <a:rPr lang="zh-TW" altLang="en-US" dirty="0"/>
              <a:t> 主要是用來處理多維陣列資料</a:t>
            </a:r>
            <a:endParaRPr lang="en-US" altLang="zh-TW" dirty="0"/>
          </a:p>
          <a:p>
            <a:r>
              <a:rPr lang="en-US" altLang="zh-TW" dirty="0"/>
              <a:t>pandas</a:t>
            </a:r>
            <a:r>
              <a:rPr lang="zh-TW" altLang="en-US" dirty="0"/>
              <a:t> 的話主要是用來處理資料表格 之前子碩的量化交易有用到</a:t>
            </a:r>
            <a:endParaRPr lang="en-US" altLang="zh-TW" dirty="0"/>
          </a:p>
          <a:p>
            <a:r>
              <a:rPr lang="en-US" altLang="zh-TW" dirty="0"/>
              <a:t>numpy </a:t>
            </a:r>
            <a:r>
              <a:rPr lang="zh-TW" altLang="en-US" dirty="0"/>
              <a:t>是我們在用</a:t>
            </a:r>
            <a:r>
              <a:rPr lang="en-US" altLang="zh-TW" dirty="0"/>
              <a:t>python</a:t>
            </a:r>
            <a:r>
              <a:rPr lang="zh-TW" altLang="en-US" dirty="0"/>
              <a:t>套件時 常常會用到的資料處理模組</a:t>
            </a:r>
            <a:endParaRPr lang="en-US" altLang="zh-TW" dirty="0"/>
          </a:p>
          <a:p>
            <a:r>
              <a:rPr lang="zh-TW" altLang="en-US" dirty="0"/>
              <a:t>還有最近很紅的資料科學</a:t>
            </a:r>
            <a:endParaRPr lang="en-US" altLang="zh-TW" dirty="0"/>
          </a:p>
          <a:p>
            <a:r>
              <a:rPr lang="zh-TW" altLang="en-US" dirty="0"/>
              <a:t>那資料科學相關的套件 很多都是建立在</a:t>
            </a:r>
            <a:r>
              <a:rPr lang="en-US" altLang="zh-TW" dirty="0" err="1"/>
              <a:t>numpy</a:t>
            </a:r>
            <a:r>
              <a:rPr lang="zh-TW" altLang="en-US" dirty="0"/>
              <a:t>的基礎上去做應用</a:t>
            </a:r>
            <a:endParaRPr lang="en-US" altLang="zh-TW" dirty="0"/>
          </a:p>
          <a:p>
            <a:r>
              <a:rPr lang="zh-TW" altLang="en-US" dirty="0"/>
              <a:t>使用</a:t>
            </a:r>
            <a:r>
              <a:rPr lang="en-US" altLang="zh-TW" dirty="0" err="1"/>
              <a:t>numpy</a:t>
            </a:r>
            <a:r>
              <a:rPr lang="zh-TW" altLang="en-US" dirty="0"/>
              <a:t>最大的好處是 他的速度遠高於原生</a:t>
            </a:r>
            <a:r>
              <a:rPr lang="en-US" altLang="zh-TW" dirty="0"/>
              <a:t>list</a:t>
            </a:r>
            <a:r>
              <a:rPr lang="zh-TW" altLang="en-US" dirty="0"/>
              <a:t> 因為他底層是用</a:t>
            </a:r>
            <a:r>
              <a:rPr lang="en-US" altLang="zh-TW" dirty="0"/>
              <a:t>C </a:t>
            </a:r>
            <a:r>
              <a:rPr lang="en-US" altLang="zh-TW" dirty="0" err="1"/>
              <a:t>C</a:t>
            </a:r>
            <a:r>
              <a:rPr lang="en-US" altLang="zh-TW" dirty="0"/>
              <a:t>++</a:t>
            </a:r>
            <a:r>
              <a:rPr lang="zh-TW" altLang="en-US" dirty="0"/>
              <a:t>寫的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D5769-C9B2-4440-B6A4-05D23B84A54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988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numpy</a:t>
            </a:r>
            <a:r>
              <a:rPr lang="zh-TW" altLang="en-US" dirty="0"/>
              <a:t>他是使用</a:t>
            </a:r>
            <a:r>
              <a:rPr lang="en-US" altLang="zh-TW" dirty="0"/>
              <a:t>ndarray</a:t>
            </a:r>
            <a:r>
              <a:rPr lang="zh-TW" altLang="en-US" dirty="0"/>
              <a:t>物件來儲存資料 相當於 </a:t>
            </a:r>
            <a:r>
              <a:rPr lang="en-US" altLang="zh-TW" dirty="0"/>
              <a:t>python </a:t>
            </a:r>
            <a:r>
              <a:rPr lang="zh-TW" altLang="en-US" dirty="0"/>
              <a:t>的 </a:t>
            </a:r>
            <a:r>
              <a:rPr lang="en-US" altLang="zh-TW" dirty="0"/>
              <a:t>list</a:t>
            </a:r>
          </a:p>
          <a:p>
            <a:r>
              <a:rPr lang="zh-TW" altLang="en-US" dirty="0"/>
              <a:t>那</a:t>
            </a:r>
            <a:r>
              <a:rPr lang="en-US" altLang="zh-TW" dirty="0"/>
              <a:t>ndarray </a:t>
            </a:r>
            <a:r>
              <a:rPr lang="zh-TW" altLang="en-US" dirty="0"/>
              <a:t>跟一般的</a:t>
            </a:r>
            <a:r>
              <a:rPr lang="en-US" altLang="zh-TW" dirty="0"/>
              <a:t>list</a:t>
            </a:r>
            <a:r>
              <a:rPr lang="zh-TW" altLang="en-US" dirty="0"/>
              <a:t>差別在哪裡呢</a:t>
            </a:r>
            <a:endParaRPr lang="en-US" altLang="zh-TW" dirty="0"/>
          </a:p>
          <a:p>
            <a:r>
              <a:rPr lang="en-US" altLang="zh-TW" dirty="0"/>
              <a:t>ndarray </a:t>
            </a:r>
            <a:r>
              <a:rPr lang="zh-TW" altLang="en-US" dirty="0"/>
              <a:t>的話 他裡面存的每一個元素資料比較小</a:t>
            </a:r>
            <a:endParaRPr lang="en-US" altLang="zh-TW" dirty="0"/>
          </a:p>
          <a:p>
            <a:r>
              <a:rPr lang="zh-TW" altLang="en-US" dirty="0"/>
              <a:t>因為在一開始已經訂好了 每個儲存 資料型態、大小</a:t>
            </a:r>
            <a:endParaRPr lang="en-US" altLang="zh-TW" dirty="0"/>
          </a:p>
          <a:p>
            <a:r>
              <a:rPr lang="zh-TW" altLang="en-US" dirty="0"/>
              <a:t>所以只需要儲存資料值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一般的</a:t>
            </a:r>
            <a:r>
              <a:rPr lang="en-US" altLang="zh-TW" dirty="0"/>
              <a:t>list</a:t>
            </a:r>
            <a:r>
              <a:rPr lang="zh-TW" altLang="en-US" dirty="0"/>
              <a:t> 它裡面的每個元素 會存這個元素 資料大小、參考次數、資料型態、值</a:t>
            </a:r>
            <a:endParaRPr lang="en-US" altLang="zh-TW" dirty="0"/>
          </a:p>
          <a:p>
            <a:r>
              <a:rPr lang="zh-TW" altLang="en-US" dirty="0"/>
              <a:t>旁邊這張表是 </a:t>
            </a:r>
            <a:r>
              <a:rPr lang="en-US" altLang="zh-TW" dirty="0"/>
              <a:t>ndarray</a:t>
            </a:r>
            <a:r>
              <a:rPr lang="zh-TW" altLang="en-US" dirty="0"/>
              <a:t> 可以用的資料型態</a:t>
            </a:r>
            <a:endParaRPr lang="en-US" altLang="zh-TW" dirty="0"/>
          </a:p>
          <a:p>
            <a:r>
              <a:rPr lang="en-US" altLang="zh-TW" dirty="0"/>
              <a:t>ndarray </a:t>
            </a:r>
            <a:r>
              <a:rPr lang="zh-TW" altLang="en-US" dirty="0"/>
              <a:t>存取時 速度較快 因為它不需要一個一個檢查型別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D5769-C9B2-4440-B6A4-05D23B84A54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4572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再來</a:t>
            </a:r>
            <a:r>
              <a:rPr lang="en-US" altLang="zh-TW" dirty="0"/>
              <a:t>numpy</a:t>
            </a:r>
            <a:r>
              <a:rPr lang="zh-TW" altLang="en-US" dirty="0"/>
              <a:t>比較特別的是</a:t>
            </a:r>
            <a:endParaRPr lang="en-US" altLang="zh-TW" dirty="0"/>
          </a:p>
          <a:p>
            <a:r>
              <a:rPr lang="zh-TW" altLang="en-US" dirty="0"/>
              <a:t>他跟內建的</a:t>
            </a:r>
            <a:r>
              <a:rPr lang="en-US" altLang="zh-TW" dirty="0"/>
              <a:t>list</a:t>
            </a:r>
            <a:r>
              <a:rPr lang="en-US" altLang="zh-TW" baseline="0" dirty="0"/>
              <a:t> </a:t>
            </a:r>
            <a:r>
              <a:rPr lang="zh-TW" altLang="en-US" baseline="0" dirty="0"/>
              <a:t>不一樣 他</a:t>
            </a:r>
            <a:r>
              <a:rPr lang="zh-TW" altLang="en-US" dirty="0"/>
              <a:t>的記憶體使用是用連續的區塊 </a:t>
            </a:r>
            <a:endParaRPr lang="en-US" altLang="zh-TW" dirty="0"/>
          </a:p>
          <a:p>
            <a:r>
              <a:rPr lang="zh-TW" altLang="en-US" dirty="0"/>
              <a:t>不像是</a:t>
            </a:r>
            <a:r>
              <a:rPr lang="en-US" altLang="zh-TW" dirty="0"/>
              <a:t>list</a:t>
            </a:r>
            <a:r>
              <a:rPr lang="zh-TW" altLang="en-US" dirty="0"/>
              <a:t>一樣是鬆散的</a:t>
            </a:r>
            <a:endParaRPr lang="en-US" altLang="zh-TW" dirty="0"/>
          </a:p>
          <a:p>
            <a:r>
              <a:rPr lang="zh-TW" altLang="en-US" dirty="0"/>
              <a:t>所以也會造成她讀取起來較快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D5769-C9B2-4440-B6A4-05D23B84A54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2410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再來就是怎麼安裝</a:t>
            </a:r>
            <a:r>
              <a:rPr lang="en-US" altLang="zh-TW" dirty="0"/>
              <a:t>numpy </a:t>
            </a:r>
            <a:r>
              <a:rPr lang="zh-TW" altLang="en-US" dirty="0"/>
              <a:t>、 </a:t>
            </a:r>
            <a:r>
              <a:rPr lang="en-US" altLang="zh-TW" dirty="0"/>
              <a:t>pandas</a:t>
            </a:r>
          </a:p>
          <a:p>
            <a:r>
              <a:rPr lang="zh-TW" altLang="en-US" dirty="0"/>
              <a:t>安裝方法很簡單 直接打 </a:t>
            </a:r>
            <a:r>
              <a:rPr lang="en-US" altLang="zh-TW" dirty="0"/>
              <a:t>pip</a:t>
            </a:r>
            <a:r>
              <a:rPr lang="zh-TW" altLang="en-US" dirty="0"/>
              <a:t> </a:t>
            </a:r>
            <a:r>
              <a:rPr lang="en-US" altLang="zh-TW" dirty="0"/>
              <a:t>install</a:t>
            </a:r>
            <a:r>
              <a:rPr lang="zh-TW" altLang="en-US" dirty="0"/>
              <a:t> </a:t>
            </a:r>
            <a:r>
              <a:rPr lang="en-US" altLang="zh-TW" dirty="0" err="1"/>
              <a:t>numpy</a:t>
            </a:r>
            <a:endParaRPr lang="en-US" altLang="zh-TW" dirty="0"/>
          </a:p>
          <a:p>
            <a:r>
              <a:rPr lang="zh-TW" altLang="en-US" baseline="0" dirty="0"/>
              <a:t>如果用</a:t>
            </a:r>
            <a:r>
              <a:rPr lang="en-US" altLang="zh-TW" baseline="0" dirty="0"/>
              <a:t>anaconda</a:t>
            </a:r>
            <a:r>
              <a:rPr lang="zh-TW" altLang="en-US" baseline="0" dirty="0"/>
              <a:t> 管理環境也可以用</a:t>
            </a:r>
            <a:r>
              <a:rPr lang="en-US" altLang="zh-TW" dirty="0" err="1"/>
              <a:t>conda</a:t>
            </a:r>
            <a:r>
              <a:rPr lang="en-US" altLang="zh-TW" dirty="0"/>
              <a:t> install</a:t>
            </a:r>
            <a:r>
              <a:rPr lang="zh-TW" altLang="en-US" dirty="0"/>
              <a:t> </a:t>
            </a:r>
            <a:r>
              <a:rPr lang="en-US" altLang="zh-TW" dirty="0"/>
              <a:t>numpy</a:t>
            </a:r>
            <a:endParaRPr lang="en-US" altLang="zh-TW" baseline="0" dirty="0"/>
          </a:p>
          <a:p>
            <a:r>
              <a:rPr lang="zh-TW" altLang="en-US" dirty="0"/>
              <a:t>因為模組相依性 如果安裝</a:t>
            </a:r>
            <a:r>
              <a:rPr lang="en-US" altLang="zh-TW" dirty="0"/>
              <a:t>pandas</a:t>
            </a:r>
            <a:r>
              <a:rPr lang="zh-TW" altLang="en-US" dirty="0"/>
              <a:t>的話 因為它裡面有用到</a:t>
            </a:r>
            <a:r>
              <a:rPr lang="en-US" altLang="zh-TW" dirty="0" err="1"/>
              <a:t>numpy</a:t>
            </a:r>
            <a:r>
              <a:rPr lang="zh-TW" altLang="en-US" dirty="0"/>
              <a:t>所以會順便安裝 </a:t>
            </a:r>
            <a:r>
              <a:rPr lang="en-US" altLang="zh-TW" dirty="0" err="1"/>
              <a:t>numpy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D5769-C9B2-4440-B6A4-05D23B84A54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07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再來講一下要如何建立</a:t>
            </a:r>
            <a:r>
              <a:rPr lang="en-US" altLang="zh-TW" dirty="0"/>
              <a:t>ndarray</a:t>
            </a:r>
          </a:p>
          <a:p>
            <a:r>
              <a:rPr lang="zh-TW" altLang="en-US" dirty="0"/>
              <a:t>建立的方法很簡單 就是 </a:t>
            </a:r>
            <a:r>
              <a:rPr lang="en-US" altLang="zh-TW" sz="1200" spc="300" dirty="0" err="1"/>
              <a:t>np.array</a:t>
            </a:r>
            <a:r>
              <a:rPr lang="zh-TW" altLang="en-US" sz="1200" spc="300" dirty="0"/>
              <a:t> </a:t>
            </a:r>
            <a:r>
              <a:rPr lang="zh-TW" altLang="en-US" dirty="0"/>
              <a:t>傳入</a:t>
            </a:r>
            <a:r>
              <a:rPr lang="en-US" altLang="zh-TW" dirty="0"/>
              <a:t>tuple</a:t>
            </a:r>
            <a:r>
              <a:rPr lang="zh-TW" altLang="en-US" dirty="0"/>
              <a:t>或</a:t>
            </a:r>
            <a:r>
              <a:rPr lang="en-US" altLang="zh-TW" dirty="0"/>
              <a:t>list</a:t>
            </a:r>
          </a:p>
          <a:p>
            <a:r>
              <a:rPr lang="zh-TW" altLang="en-US" dirty="0"/>
              <a:t>像下面這邊</a:t>
            </a:r>
            <a:endParaRPr lang="en-US" altLang="zh-TW" dirty="0"/>
          </a:p>
          <a:p>
            <a:r>
              <a:rPr lang="zh-TW" altLang="en-US" dirty="0"/>
              <a:t>我用一個 </a:t>
            </a:r>
            <a:r>
              <a:rPr lang="en-US" altLang="zh-TW" dirty="0" err="1"/>
              <a:t>np.array</a:t>
            </a:r>
            <a:r>
              <a:rPr lang="zh-TW" altLang="en-US" dirty="0"/>
              <a:t> 直接傳一個普通的 </a:t>
            </a:r>
            <a:r>
              <a:rPr lang="en-US" altLang="zh-TW" dirty="0"/>
              <a:t>list</a:t>
            </a:r>
            <a:r>
              <a:rPr lang="zh-TW" altLang="en-US" dirty="0"/>
              <a:t>進去 這樣就是一個一維陣列</a:t>
            </a:r>
            <a:endParaRPr lang="en-US" altLang="zh-TW" dirty="0"/>
          </a:p>
          <a:p>
            <a:r>
              <a:rPr lang="zh-TW" altLang="en-US" dirty="0"/>
              <a:t>然後再下來 我用一個</a:t>
            </a:r>
            <a:r>
              <a:rPr lang="en-US" altLang="zh-TW" dirty="0"/>
              <a:t>list </a:t>
            </a:r>
            <a:r>
              <a:rPr lang="zh-TW" altLang="en-US" dirty="0"/>
              <a:t>然後裡面包兩個</a:t>
            </a:r>
            <a:r>
              <a:rPr lang="en-US" altLang="zh-TW" dirty="0"/>
              <a:t>list</a:t>
            </a:r>
          </a:p>
          <a:p>
            <a:r>
              <a:rPr lang="zh-TW" altLang="en-US" dirty="0"/>
              <a:t>那這樣就是一個 </a:t>
            </a:r>
            <a:r>
              <a:rPr lang="en-US" altLang="zh-TW" dirty="0"/>
              <a:t>2</a:t>
            </a:r>
            <a:r>
              <a:rPr lang="zh-TW" altLang="en-US" dirty="0"/>
              <a:t> 乘以 </a:t>
            </a:r>
            <a:r>
              <a:rPr lang="en-US" altLang="zh-TW" dirty="0"/>
              <a:t>4 </a:t>
            </a:r>
            <a:r>
              <a:rPr lang="zh-TW" altLang="en-US" dirty="0"/>
              <a:t>的二維陣列</a:t>
            </a:r>
            <a:endParaRPr lang="en-US" altLang="zh-TW" dirty="0"/>
          </a:p>
          <a:p>
            <a:r>
              <a:rPr lang="zh-TW" altLang="en-US" dirty="0"/>
              <a:t>然後我後面可以指定資料類型 我的</a:t>
            </a:r>
            <a:r>
              <a:rPr lang="en-US" altLang="zh-TW" dirty="0" err="1"/>
              <a:t>dtype</a:t>
            </a:r>
            <a:r>
              <a:rPr lang="zh-TW" altLang="en-US" dirty="0"/>
              <a:t>設定成</a:t>
            </a:r>
            <a:r>
              <a:rPr lang="en-US" altLang="zh-TW" dirty="0"/>
              <a:t>float</a:t>
            </a:r>
          </a:p>
          <a:p>
            <a:r>
              <a:rPr lang="zh-TW" altLang="en-US" dirty="0"/>
              <a:t>我們還可以</a:t>
            </a:r>
            <a:r>
              <a:rPr lang="en-US" altLang="zh-TW" dirty="0" err="1"/>
              <a:t>ndmin</a:t>
            </a:r>
            <a:r>
              <a:rPr lang="en-US" altLang="zh-TW" dirty="0"/>
              <a:t> </a:t>
            </a:r>
            <a:r>
              <a:rPr lang="zh-TW" altLang="en-US" dirty="0"/>
              <a:t>去指定他的最小維度</a:t>
            </a:r>
            <a:endParaRPr lang="en-US" altLang="zh-TW" dirty="0"/>
          </a:p>
          <a:p>
            <a:r>
              <a:rPr lang="zh-TW" altLang="en-US" dirty="0"/>
              <a:t>我這邊雖然傳一維的</a:t>
            </a:r>
            <a:r>
              <a:rPr lang="en-US" altLang="zh-TW" dirty="0"/>
              <a:t>list </a:t>
            </a:r>
            <a:r>
              <a:rPr lang="zh-TW" altLang="en-US" dirty="0"/>
              <a:t>但是我把他的</a:t>
            </a:r>
            <a:r>
              <a:rPr lang="en-US" altLang="zh-TW" dirty="0" err="1"/>
              <a:t>ndmin</a:t>
            </a:r>
            <a:r>
              <a:rPr lang="zh-TW" altLang="en-US" dirty="0"/>
              <a:t> 設定為</a:t>
            </a:r>
            <a:r>
              <a:rPr lang="en-US" altLang="zh-TW" dirty="0"/>
              <a:t>2</a:t>
            </a:r>
          </a:p>
          <a:p>
            <a:r>
              <a:rPr lang="zh-TW" altLang="en-US" dirty="0"/>
              <a:t>所以創出來會是 </a:t>
            </a:r>
            <a:r>
              <a:rPr lang="en-US" altLang="zh-TW" dirty="0"/>
              <a:t>2</a:t>
            </a:r>
            <a:r>
              <a:rPr lang="zh-TW" altLang="en-US" dirty="0"/>
              <a:t> 維 也就是包兩層的</a:t>
            </a:r>
            <a:r>
              <a:rPr lang="en-US" altLang="zh-TW" dirty="0"/>
              <a:t>list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D5769-C9B2-4440-B6A4-05D23B84A54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6379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再來就是一些其他的創建方法</a:t>
            </a:r>
            <a:endParaRPr lang="en-US" altLang="zh-TW" dirty="0"/>
          </a:p>
          <a:p>
            <a:r>
              <a:rPr lang="zh-TW" altLang="en-US" dirty="0"/>
              <a:t>不過這邊比較無聊 所以待會直接用程式碼來演示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D5769-C9B2-4440-B6A4-05D23B84A54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78582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再來講一下</a:t>
            </a:r>
            <a:r>
              <a:rPr lang="en-US" altLang="zh-TW" dirty="0" err="1"/>
              <a:t>ndarray</a:t>
            </a:r>
            <a:r>
              <a:rPr lang="zh-TW" altLang="en-US" dirty="0"/>
              <a:t>的屬性</a:t>
            </a:r>
            <a:endParaRPr lang="en-US" altLang="zh-TW" dirty="0"/>
          </a:p>
          <a:p>
            <a:r>
              <a:rPr lang="en-US" altLang="zh-TW" dirty="0" err="1"/>
              <a:t>Ndim</a:t>
            </a:r>
            <a:r>
              <a:rPr lang="en-US" altLang="zh-TW" baseline="0" dirty="0"/>
              <a:t> </a:t>
            </a:r>
            <a:r>
              <a:rPr lang="zh-TW" altLang="en-US" baseline="0" dirty="0"/>
              <a:t>是這個陣列的維度</a:t>
            </a:r>
            <a:endParaRPr lang="en-US" altLang="zh-TW" baseline="0" dirty="0"/>
          </a:p>
          <a:p>
            <a:r>
              <a:rPr lang="zh-TW" altLang="en-US" dirty="0"/>
              <a:t>向右邊這個就是一個二維的矩陣 所以他的 </a:t>
            </a:r>
            <a:r>
              <a:rPr lang="en-US" altLang="zh-TW" dirty="0" err="1"/>
              <a:t>ndim</a:t>
            </a:r>
            <a:r>
              <a:rPr lang="zh-TW" altLang="en-US" dirty="0"/>
              <a:t>是</a:t>
            </a:r>
            <a:r>
              <a:rPr lang="en-US" altLang="zh-TW" dirty="0"/>
              <a:t>2</a:t>
            </a:r>
          </a:p>
          <a:p>
            <a:r>
              <a:rPr lang="en-US" altLang="zh-TW" dirty="0"/>
              <a:t>shape</a:t>
            </a:r>
            <a:r>
              <a:rPr lang="zh-TW" altLang="en-US" dirty="0"/>
              <a:t>指的是它是幾成幾的矩陣 這邊是</a:t>
            </a:r>
            <a:r>
              <a:rPr lang="en-US" altLang="zh-TW" dirty="0"/>
              <a:t>2</a:t>
            </a:r>
            <a:r>
              <a:rPr lang="zh-TW" altLang="en-US" dirty="0"/>
              <a:t>乘</a:t>
            </a:r>
            <a:r>
              <a:rPr lang="en-US" altLang="zh-TW" dirty="0"/>
              <a:t>3</a:t>
            </a:r>
            <a:r>
              <a:rPr lang="zh-TW" altLang="en-US" dirty="0"/>
              <a:t>的矩陣所以是 </a:t>
            </a:r>
            <a:r>
              <a:rPr lang="en-US" altLang="zh-TW" dirty="0"/>
              <a:t>(2,3)</a:t>
            </a:r>
          </a:p>
          <a:p>
            <a:r>
              <a:rPr lang="en-US" altLang="zh-TW" dirty="0"/>
              <a:t>Size</a:t>
            </a:r>
            <a:r>
              <a:rPr lang="zh-TW" altLang="en-US" dirty="0"/>
              <a:t>指的是裡面總共有多少元素 這邊是</a:t>
            </a:r>
            <a:r>
              <a:rPr lang="en-US" altLang="zh-TW" dirty="0"/>
              <a:t>6</a:t>
            </a:r>
          </a:p>
          <a:p>
            <a:r>
              <a:rPr lang="en-US" altLang="zh-TW" dirty="0" err="1"/>
              <a:t>dtype</a:t>
            </a:r>
            <a:r>
              <a:rPr lang="zh-TW" altLang="en-US" dirty="0"/>
              <a:t>指的是它裡面貯存的資料型態 像是</a:t>
            </a:r>
            <a:r>
              <a:rPr lang="en-US" altLang="zh-TW" dirty="0"/>
              <a:t>string</a:t>
            </a:r>
            <a:r>
              <a:rPr lang="zh-TW" altLang="en-US" dirty="0"/>
              <a:t> </a:t>
            </a:r>
            <a:r>
              <a:rPr lang="en-US" altLang="zh-TW" dirty="0"/>
              <a:t>int32</a:t>
            </a:r>
            <a:r>
              <a:rPr lang="zh-TW" altLang="en-US" dirty="0"/>
              <a:t> </a:t>
            </a:r>
            <a:r>
              <a:rPr lang="en-US" altLang="zh-TW" dirty="0"/>
              <a:t>float64..</a:t>
            </a:r>
            <a:r>
              <a:rPr lang="zh-TW" altLang="en-US" dirty="0"/>
              <a:t>還有很多 可以去網路上查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7D5769-C9B2-4440-B6A4-05D23B84A54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096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軸向的順序的話 我是記存取的順序</a:t>
            </a:r>
            <a:endParaRPr lang="en-US" altLang="zh-TW" dirty="0"/>
          </a:p>
          <a:p>
            <a:r>
              <a:rPr lang="zh-TW" altLang="en-US" dirty="0"/>
              <a:t>像是這個一維陣列 他存取方向只有從左邊到右邊 所以這個方向是</a:t>
            </a:r>
            <a:r>
              <a:rPr lang="en-US" altLang="zh-TW" dirty="0"/>
              <a:t>axis</a:t>
            </a:r>
            <a:r>
              <a:rPr lang="zh-TW" altLang="en-US" dirty="0"/>
              <a:t> </a:t>
            </a:r>
            <a:r>
              <a:rPr lang="en-US" altLang="zh-TW" dirty="0"/>
              <a:t>0</a:t>
            </a:r>
          </a:p>
          <a:p>
            <a:r>
              <a:rPr lang="zh-TW" altLang="en-US" dirty="0"/>
              <a:t>二維陣列的話 你是先存取上面這行 再存取下面這行 所以這方向是</a:t>
            </a:r>
            <a:r>
              <a:rPr lang="en-US" altLang="zh-TW" dirty="0"/>
              <a:t>axis 0</a:t>
            </a:r>
            <a:r>
              <a:rPr lang="zh-TW" altLang="en-US" dirty="0"/>
              <a:t> 另一個方向就是</a:t>
            </a:r>
            <a:r>
              <a:rPr lang="en-US" altLang="zh-TW" dirty="0"/>
              <a:t>1</a:t>
            </a:r>
          </a:p>
          <a:p>
            <a:r>
              <a:rPr lang="zh-TW" altLang="en-US" dirty="0"/>
              <a:t>那三維的話就是多一個 </a:t>
            </a:r>
            <a:r>
              <a:rPr lang="en-US" altLang="zh-TW" dirty="0"/>
              <a:t>axis 2 </a:t>
            </a:r>
            <a:r>
              <a:rPr lang="zh-TW" altLang="en-US" dirty="0"/>
              <a:t>方向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D5769-C9B2-4440-B6A4-05D23B84A54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332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再來講一下 </a:t>
            </a:r>
            <a:r>
              <a:rPr lang="en-US" altLang="zh-TW" dirty="0"/>
              <a:t>ndarray</a:t>
            </a:r>
            <a:r>
              <a:rPr lang="zh-TW" altLang="en-US" dirty="0"/>
              <a:t> 的基礎運算</a:t>
            </a:r>
            <a:endParaRPr lang="en-US" altLang="zh-TW" dirty="0"/>
          </a:p>
          <a:p>
            <a:r>
              <a:rPr lang="zh-TW" altLang="en-US" dirty="0"/>
              <a:t>什麼是逐元運算 </a:t>
            </a:r>
            <a:endParaRPr lang="en-US" altLang="zh-TW" dirty="0"/>
          </a:p>
          <a:p>
            <a:r>
              <a:rPr lang="zh-TW" altLang="en-US" dirty="0"/>
              <a:t>就是我現在假設將</a:t>
            </a:r>
            <a:r>
              <a:rPr lang="en-US" altLang="zh-TW" dirty="0"/>
              <a:t>A </a:t>
            </a:r>
            <a:r>
              <a:rPr lang="zh-TW" altLang="en-US" dirty="0"/>
              <a:t>陣列 加上 </a:t>
            </a:r>
            <a:r>
              <a:rPr lang="en-US" altLang="zh-TW" dirty="0"/>
              <a:t>B</a:t>
            </a:r>
            <a:r>
              <a:rPr lang="zh-TW" altLang="en-US" dirty="0"/>
              <a:t> 陣列</a:t>
            </a:r>
            <a:endParaRPr lang="en-US" altLang="zh-TW" dirty="0"/>
          </a:p>
          <a:p>
            <a:r>
              <a:rPr lang="zh-TW" altLang="en-US" dirty="0"/>
              <a:t>那他會將裡面元素逐一運算 然後得到 </a:t>
            </a:r>
            <a:r>
              <a:rPr lang="en-US" altLang="zh-TW" dirty="0"/>
              <a:t>C</a:t>
            </a:r>
            <a:r>
              <a:rPr lang="zh-TW" altLang="en-US" dirty="0"/>
              <a:t> 陣列</a:t>
            </a:r>
            <a:endParaRPr lang="en-US" altLang="zh-TW" dirty="0"/>
          </a:p>
          <a:p>
            <a:r>
              <a:rPr lang="zh-TW" altLang="en-US" dirty="0"/>
              <a:t>加減乘除 比大小 都是進行逐元運算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7D5769-C9B2-4440-B6A4-05D23B84A54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6022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再來說一下</a:t>
            </a:r>
            <a:r>
              <a:rPr lang="en-US" altLang="zh-TW" dirty="0"/>
              <a:t>ndarray</a:t>
            </a:r>
            <a:r>
              <a:rPr lang="zh-TW" altLang="en-US" dirty="0"/>
              <a:t>的形狀操作</a:t>
            </a:r>
            <a:endParaRPr lang="en-US" altLang="zh-TW" dirty="0"/>
          </a:p>
          <a:p>
            <a:r>
              <a:rPr lang="zh-TW" altLang="en-US" dirty="0"/>
              <a:t>什麼是形狀操作呢 就是將資料的</a:t>
            </a:r>
            <a:r>
              <a:rPr lang="en-US" altLang="zh-TW" dirty="0"/>
              <a:t>shape</a:t>
            </a:r>
            <a:r>
              <a:rPr lang="zh-TW" altLang="en-US" dirty="0"/>
              <a:t> 做改變</a:t>
            </a:r>
            <a:endParaRPr lang="en-US" altLang="zh-TW" dirty="0"/>
          </a:p>
          <a:p>
            <a:r>
              <a:rPr lang="zh-TW" altLang="en-US" dirty="0"/>
              <a:t>例如我這邊有一個</a:t>
            </a:r>
            <a:r>
              <a:rPr lang="en-US" altLang="zh-TW" dirty="0"/>
              <a:t>1</a:t>
            </a:r>
            <a:r>
              <a:rPr lang="zh-TW" altLang="en-US" dirty="0"/>
              <a:t>*</a:t>
            </a:r>
            <a:r>
              <a:rPr lang="en-US" altLang="zh-TW" dirty="0"/>
              <a:t>6</a:t>
            </a:r>
            <a:r>
              <a:rPr lang="zh-TW" altLang="en-US" dirty="0"/>
              <a:t>的矩陣 我可以用</a:t>
            </a:r>
            <a:r>
              <a:rPr lang="en-US" altLang="zh-TW" dirty="0"/>
              <a:t>reshape 2 3 </a:t>
            </a:r>
            <a:r>
              <a:rPr lang="zh-TW" altLang="en-US" dirty="0"/>
              <a:t>將它變成</a:t>
            </a:r>
            <a:r>
              <a:rPr lang="en-US" altLang="zh-TW" dirty="0"/>
              <a:t>2</a:t>
            </a:r>
            <a:r>
              <a:rPr lang="zh-TW" altLang="en-US" dirty="0"/>
              <a:t>*</a:t>
            </a:r>
            <a:r>
              <a:rPr lang="en-US" altLang="zh-TW" dirty="0"/>
              <a:t>3</a:t>
            </a:r>
            <a:r>
              <a:rPr lang="zh-TW" altLang="en-US" dirty="0"/>
              <a:t>的矩陣</a:t>
            </a:r>
            <a:endParaRPr lang="en-US" altLang="zh-TW" dirty="0"/>
          </a:p>
          <a:p>
            <a:r>
              <a:rPr lang="zh-TW" altLang="en-US" dirty="0"/>
              <a:t>那這邊要注意的是 </a:t>
            </a:r>
            <a:r>
              <a:rPr lang="en-US" altLang="zh-TW" dirty="0"/>
              <a:t>reshape</a:t>
            </a:r>
            <a:r>
              <a:rPr lang="zh-TW" altLang="en-US" dirty="0"/>
              <a:t>一定要元素數量可以符合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D5769-C9B2-4440-B6A4-05D23B84A54D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3091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7D5769-C9B2-4440-B6A4-05D23B84A54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7248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" y="1"/>
            <a:ext cx="12188388" cy="6857999"/>
          </a:xfrm>
          <a:prstGeom prst="rect">
            <a:avLst/>
          </a:prstGeom>
        </p:spPr>
      </p:pic>
      <p:sp>
        <p:nvSpPr>
          <p:cNvPr id="8" name="標題 1"/>
          <p:cNvSpPr>
            <a:spLocks noGrp="1"/>
          </p:cNvSpPr>
          <p:nvPr>
            <p:ph type="ctrTitle" hasCustomPrompt="1"/>
          </p:nvPr>
        </p:nvSpPr>
        <p:spPr>
          <a:xfrm>
            <a:off x="1103445" y="2821418"/>
            <a:ext cx="10465163" cy="1010543"/>
          </a:xfrm>
        </p:spPr>
        <p:txBody>
          <a:bodyPr>
            <a:norm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altLang="zh-TW" dirty="0"/>
              <a:t>Presentation Template</a:t>
            </a:r>
            <a:endParaRPr lang="zh-TW" altLang="en-US" dirty="0"/>
          </a:p>
        </p:txBody>
      </p:sp>
      <p:sp>
        <p:nvSpPr>
          <p:cNvPr id="9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103445" y="3507349"/>
            <a:ext cx="10465163" cy="6949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10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1103445" y="4312014"/>
            <a:ext cx="1357941" cy="365125"/>
          </a:xfrm>
          <a:prstGeom prst="rect">
            <a:avLst/>
          </a:prstGeom>
        </p:spPr>
        <p:txBody>
          <a:bodyPr/>
          <a:lstStyle>
            <a:lvl1pPr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5A5FF99-5F9E-4D3F-9451-1FDF1D47008D}" type="datetimeFigureOut">
              <a:rPr lang="zh-TW" altLang="en-US" smtClean="0"/>
              <a:t>2023/9/20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3339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" y="1"/>
            <a:ext cx="12188388" cy="6857999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ctrTitle" hasCustomPrompt="1"/>
          </p:nvPr>
        </p:nvSpPr>
        <p:spPr>
          <a:xfrm>
            <a:off x="1100703" y="2263015"/>
            <a:ext cx="10467905" cy="1010543"/>
          </a:xfrm>
        </p:spPr>
        <p:txBody>
          <a:bodyPr>
            <a:normAutofit/>
          </a:bodyPr>
          <a:lstStyle>
            <a:lvl1pPr>
              <a:defRPr sz="4800" b="1"/>
            </a:lvl1pPr>
          </a:lstStyle>
          <a:p>
            <a:r>
              <a:rPr lang="en-US" altLang="zh-TW" dirty="0"/>
              <a:t>CHAPTER TITLE</a:t>
            </a:r>
            <a:endParaRPr lang="zh-TW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sz="half" idx="1"/>
          </p:nvPr>
        </p:nvSpPr>
        <p:spPr>
          <a:xfrm>
            <a:off x="1100704" y="3465579"/>
            <a:ext cx="7299553" cy="17876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667"/>
            </a:lvl1pPr>
            <a:lvl2pPr marL="609585" indent="0">
              <a:lnSpc>
                <a:spcPct val="100000"/>
              </a:lnSpc>
              <a:buFontTx/>
              <a:buNone/>
              <a:defRPr sz="2400"/>
            </a:lvl2pPr>
            <a:lvl3pPr marL="1219170" indent="0">
              <a:lnSpc>
                <a:spcPct val="100000"/>
              </a:lnSpc>
              <a:buFontTx/>
              <a:buNone/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  <p:extLst>
      <p:ext uri="{BB962C8B-B14F-4D97-AF65-F5344CB8AC3E}">
        <p14:creationId xmlns:p14="http://schemas.microsoft.com/office/powerpoint/2010/main" val="273646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8" name="內容版面配置區 2"/>
          <p:cNvSpPr>
            <a:spLocks noGrp="1"/>
          </p:cNvSpPr>
          <p:nvPr>
            <p:ph sz="half" idx="1"/>
          </p:nvPr>
        </p:nvSpPr>
        <p:spPr>
          <a:xfrm>
            <a:off x="527382" y="1220755"/>
            <a:ext cx="11133625" cy="470452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7" name="圖片 6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10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270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382" y="1220755"/>
            <a:ext cx="5467191" cy="470452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2" name="內容版面配置區 2"/>
          <p:cNvSpPr>
            <a:spLocks noGrp="1"/>
          </p:cNvSpPr>
          <p:nvPr>
            <p:ph sz="half" idx="13"/>
          </p:nvPr>
        </p:nvSpPr>
        <p:spPr>
          <a:xfrm>
            <a:off x="6193817" y="1220755"/>
            <a:ext cx="5467191" cy="470452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10" name="圖片 9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8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7842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7383" y="274640"/>
            <a:ext cx="11133624" cy="56207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382" y="1220756"/>
            <a:ext cx="11133625" cy="22562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382" y="3669031"/>
            <a:ext cx="5470797" cy="225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8" name="內容版面配置區 3"/>
          <p:cNvSpPr>
            <a:spLocks noGrp="1"/>
          </p:cNvSpPr>
          <p:nvPr>
            <p:ph sz="half" idx="13"/>
          </p:nvPr>
        </p:nvSpPr>
        <p:spPr>
          <a:xfrm>
            <a:off x="6190205" y="3669028"/>
            <a:ext cx="5470801" cy="22562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pic>
        <p:nvPicPr>
          <p:cNvPr id="11" name="圖片 10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9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7870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7383" y="274640"/>
            <a:ext cx="11133624" cy="56207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382" y="3669028"/>
            <a:ext cx="11133625" cy="22562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382" y="1220755"/>
            <a:ext cx="5470797" cy="225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8" name="內容版面配置區 3"/>
          <p:cNvSpPr>
            <a:spLocks noGrp="1"/>
          </p:cNvSpPr>
          <p:nvPr>
            <p:ph sz="half" idx="13"/>
          </p:nvPr>
        </p:nvSpPr>
        <p:spPr>
          <a:xfrm>
            <a:off x="6190205" y="1220755"/>
            <a:ext cx="5470801" cy="22562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pic>
        <p:nvPicPr>
          <p:cNvPr id="11" name="圖片 10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9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2329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7383" y="274640"/>
            <a:ext cx="11133624" cy="56207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382" y="1220755"/>
            <a:ext cx="5278780" cy="470452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998183" y="1220756"/>
            <a:ext cx="5662824" cy="225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8" name="內容版面配置區 3"/>
          <p:cNvSpPr>
            <a:spLocks noGrp="1"/>
          </p:cNvSpPr>
          <p:nvPr>
            <p:ph sz="half" idx="13"/>
          </p:nvPr>
        </p:nvSpPr>
        <p:spPr>
          <a:xfrm>
            <a:off x="5998183" y="3669028"/>
            <a:ext cx="5662824" cy="22562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pic>
        <p:nvPicPr>
          <p:cNvPr id="11" name="圖片 10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9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999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7383" y="274640"/>
            <a:ext cx="11133624" cy="56207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382227" y="1220755"/>
            <a:ext cx="5278780" cy="470452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383" y="1220756"/>
            <a:ext cx="5662824" cy="225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8" name="內容版面配置區 3"/>
          <p:cNvSpPr>
            <a:spLocks noGrp="1"/>
          </p:cNvSpPr>
          <p:nvPr>
            <p:ph sz="half" idx="13"/>
          </p:nvPr>
        </p:nvSpPr>
        <p:spPr>
          <a:xfrm>
            <a:off x="527383" y="3669028"/>
            <a:ext cx="5662824" cy="22562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pic>
        <p:nvPicPr>
          <p:cNvPr id="11" name="圖片 10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9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7702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7383" y="274640"/>
            <a:ext cx="11133624" cy="56207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383" y="1220756"/>
            <a:ext cx="5471703" cy="225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8" name="內容版面配置區 3"/>
          <p:cNvSpPr>
            <a:spLocks noGrp="1"/>
          </p:cNvSpPr>
          <p:nvPr>
            <p:ph sz="half" idx="13"/>
          </p:nvPr>
        </p:nvSpPr>
        <p:spPr>
          <a:xfrm>
            <a:off x="527383" y="3669028"/>
            <a:ext cx="5471703" cy="22562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1" name="內容版面配置區 3"/>
          <p:cNvSpPr>
            <a:spLocks noGrp="1"/>
          </p:cNvSpPr>
          <p:nvPr>
            <p:ph sz="half" idx="14"/>
          </p:nvPr>
        </p:nvSpPr>
        <p:spPr>
          <a:xfrm>
            <a:off x="6189303" y="1220756"/>
            <a:ext cx="5471703" cy="2256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2" name="內容版面配置區 3"/>
          <p:cNvSpPr>
            <a:spLocks noGrp="1"/>
          </p:cNvSpPr>
          <p:nvPr>
            <p:ph sz="half" idx="15"/>
          </p:nvPr>
        </p:nvSpPr>
        <p:spPr>
          <a:xfrm>
            <a:off x="6189303" y="3669028"/>
            <a:ext cx="5471703" cy="22562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pic>
        <p:nvPicPr>
          <p:cNvPr id="13" name="圖片 1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10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65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27382" y="1220755"/>
            <a:ext cx="5470801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382" y="1860517"/>
            <a:ext cx="5470801" cy="406476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0204" y="1220755"/>
            <a:ext cx="5470803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0204" y="1860517"/>
            <a:ext cx="5470803" cy="406476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527383" y="274640"/>
            <a:ext cx="11133624" cy="56207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13" name="圖片 1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11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2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98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27382" y="1220755"/>
            <a:ext cx="5470801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382" y="1860517"/>
            <a:ext cx="5470801" cy="406476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0204" y="1220755"/>
            <a:ext cx="5470803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527383" y="274640"/>
            <a:ext cx="11133624" cy="56207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1" name="內容版面配置區 3"/>
          <p:cNvSpPr>
            <a:spLocks noGrp="1"/>
          </p:cNvSpPr>
          <p:nvPr>
            <p:ph sz="half" idx="13"/>
          </p:nvPr>
        </p:nvSpPr>
        <p:spPr>
          <a:xfrm>
            <a:off x="6190204" y="1860517"/>
            <a:ext cx="5470803" cy="1616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2" name="文字版面配置區 4"/>
          <p:cNvSpPr>
            <a:spLocks noGrp="1"/>
          </p:cNvSpPr>
          <p:nvPr>
            <p:ph type="body" sz="quarter" idx="14"/>
          </p:nvPr>
        </p:nvSpPr>
        <p:spPr>
          <a:xfrm>
            <a:off x="6190204" y="3669029"/>
            <a:ext cx="5470803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3" name="內容版面配置區 3"/>
          <p:cNvSpPr>
            <a:spLocks noGrp="1"/>
          </p:cNvSpPr>
          <p:nvPr>
            <p:ph sz="half" idx="15"/>
          </p:nvPr>
        </p:nvSpPr>
        <p:spPr>
          <a:xfrm>
            <a:off x="6190204" y="4308791"/>
            <a:ext cx="5470803" cy="1616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pic>
        <p:nvPicPr>
          <p:cNvPr id="16" name="圖片 1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14" name="頁尾版面配置區 4"/>
          <p:cNvSpPr>
            <a:spLocks noGrp="1"/>
          </p:cNvSpPr>
          <p:nvPr>
            <p:ph type="ftr" sz="quarter" idx="16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5419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0204" y="1220755"/>
            <a:ext cx="5470803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0204" y="1860517"/>
            <a:ext cx="5470803" cy="406476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527383" y="274640"/>
            <a:ext cx="11133624" cy="56207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1" name="文字版面配置區 4"/>
          <p:cNvSpPr>
            <a:spLocks noGrp="1"/>
          </p:cNvSpPr>
          <p:nvPr>
            <p:ph type="body" sz="quarter" idx="13"/>
          </p:nvPr>
        </p:nvSpPr>
        <p:spPr>
          <a:xfrm>
            <a:off x="527383" y="1220755"/>
            <a:ext cx="5470803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2" name="內容版面配置區 3"/>
          <p:cNvSpPr>
            <a:spLocks noGrp="1"/>
          </p:cNvSpPr>
          <p:nvPr>
            <p:ph sz="half" idx="14"/>
          </p:nvPr>
        </p:nvSpPr>
        <p:spPr>
          <a:xfrm>
            <a:off x="527383" y="1860517"/>
            <a:ext cx="5470803" cy="1616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3" name="文字版面配置區 4"/>
          <p:cNvSpPr>
            <a:spLocks noGrp="1"/>
          </p:cNvSpPr>
          <p:nvPr>
            <p:ph type="body" sz="quarter" idx="15"/>
          </p:nvPr>
        </p:nvSpPr>
        <p:spPr>
          <a:xfrm>
            <a:off x="527383" y="3669029"/>
            <a:ext cx="5470803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4" name="內容版面配置區 3"/>
          <p:cNvSpPr>
            <a:spLocks noGrp="1"/>
          </p:cNvSpPr>
          <p:nvPr>
            <p:ph sz="half" idx="16"/>
          </p:nvPr>
        </p:nvSpPr>
        <p:spPr>
          <a:xfrm>
            <a:off x="527383" y="4308791"/>
            <a:ext cx="5470803" cy="1616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pic>
        <p:nvPicPr>
          <p:cNvPr id="17" name="圖片 16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15" name="頁尾版面配置區 4"/>
          <p:cNvSpPr>
            <a:spLocks noGrp="1"/>
          </p:cNvSpPr>
          <p:nvPr>
            <p:ph type="ftr" sz="quarter" idx="18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6" name="投影片編號版面配置區 5"/>
          <p:cNvSpPr>
            <a:spLocks noGrp="1"/>
          </p:cNvSpPr>
          <p:nvPr>
            <p:ph type="sldNum" sz="quarter" idx="19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2148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527383" y="274640"/>
            <a:ext cx="11133624" cy="56207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1" name="文字版面配置區 4"/>
          <p:cNvSpPr>
            <a:spLocks noGrp="1"/>
          </p:cNvSpPr>
          <p:nvPr>
            <p:ph type="body" sz="quarter" idx="13"/>
          </p:nvPr>
        </p:nvSpPr>
        <p:spPr>
          <a:xfrm>
            <a:off x="527383" y="1220755"/>
            <a:ext cx="5470803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2" name="內容版面配置區 3"/>
          <p:cNvSpPr>
            <a:spLocks noGrp="1"/>
          </p:cNvSpPr>
          <p:nvPr>
            <p:ph sz="half" idx="14"/>
          </p:nvPr>
        </p:nvSpPr>
        <p:spPr>
          <a:xfrm>
            <a:off x="527383" y="1860517"/>
            <a:ext cx="5470803" cy="1616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3" name="文字版面配置區 4"/>
          <p:cNvSpPr>
            <a:spLocks noGrp="1"/>
          </p:cNvSpPr>
          <p:nvPr>
            <p:ph type="body" sz="quarter" idx="15"/>
          </p:nvPr>
        </p:nvSpPr>
        <p:spPr>
          <a:xfrm>
            <a:off x="527383" y="3669029"/>
            <a:ext cx="5470803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4" name="內容版面配置區 3"/>
          <p:cNvSpPr>
            <a:spLocks noGrp="1"/>
          </p:cNvSpPr>
          <p:nvPr>
            <p:ph sz="half" idx="16"/>
          </p:nvPr>
        </p:nvSpPr>
        <p:spPr>
          <a:xfrm>
            <a:off x="527383" y="4308791"/>
            <a:ext cx="5470803" cy="1616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0204" y="1220755"/>
            <a:ext cx="5470803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6" name="內容版面配置區 3"/>
          <p:cNvSpPr>
            <a:spLocks noGrp="1"/>
          </p:cNvSpPr>
          <p:nvPr>
            <p:ph sz="half" idx="17"/>
          </p:nvPr>
        </p:nvSpPr>
        <p:spPr>
          <a:xfrm>
            <a:off x="6190204" y="1860517"/>
            <a:ext cx="5470803" cy="1616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7" name="文字版面配置區 4"/>
          <p:cNvSpPr>
            <a:spLocks noGrp="1"/>
          </p:cNvSpPr>
          <p:nvPr>
            <p:ph type="body" sz="quarter" idx="18"/>
          </p:nvPr>
        </p:nvSpPr>
        <p:spPr>
          <a:xfrm>
            <a:off x="6190204" y="3669029"/>
            <a:ext cx="5470803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8" name="內容版面配置區 3"/>
          <p:cNvSpPr>
            <a:spLocks noGrp="1"/>
          </p:cNvSpPr>
          <p:nvPr>
            <p:ph sz="half" idx="19"/>
          </p:nvPr>
        </p:nvSpPr>
        <p:spPr>
          <a:xfrm>
            <a:off x="6190204" y="4308791"/>
            <a:ext cx="5470803" cy="1616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pic>
        <p:nvPicPr>
          <p:cNvPr id="21" name="圖片 20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19" name="頁尾版面配置區 4"/>
          <p:cNvSpPr>
            <a:spLocks noGrp="1"/>
          </p:cNvSpPr>
          <p:nvPr>
            <p:ph type="ftr" sz="quarter" idx="20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0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4798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8" name="圖片 7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6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539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95867" y="1197411"/>
            <a:ext cx="6686533" cy="47278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600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27383" y="274640"/>
            <a:ext cx="11133623" cy="56207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pic>
        <p:nvPicPr>
          <p:cNvPr id="11" name="圖片 10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1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27382" y="1220756"/>
            <a:ext cx="4176463" cy="4704523"/>
          </a:xfrm>
          <a:prstGeom prst="rect">
            <a:avLst/>
          </a:prstGeom>
        </p:spPr>
        <p:txBody>
          <a:bodyPr>
            <a:normAutofit/>
          </a:bodyPr>
          <a:lstStyle>
            <a:lvl1pPr marL="380990" indent="-380990">
              <a:buFont typeface="Wingdings" charset="2"/>
              <a:buChar char="n"/>
              <a:defRPr sz="26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803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27383" y="1028733"/>
            <a:ext cx="11133624" cy="38404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27383" y="5061182"/>
            <a:ext cx="11133624" cy="11110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27383" y="274640"/>
            <a:ext cx="11133624" cy="56207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11" name="圖片 10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840000"/>
            <a:ext cx="12000000" cy="57227"/>
          </a:xfrm>
          <a:prstGeom prst="rect">
            <a:avLst/>
          </a:prstGeom>
        </p:spPr>
      </p:pic>
      <p:sp>
        <p:nvSpPr>
          <p:cNvPr id="9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6559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結尾標語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" y="0"/>
            <a:ext cx="12188388" cy="6858000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ctrTitle" hasCustomPrompt="1"/>
          </p:nvPr>
        </p:nvSpPr>
        <p:spPr>
          <a:xfrm>
            <a:off x="1100703" y="2263015"/>
            <a:ext cx="10467905" cy="1010543"/>
          </a:xfrm>
        </p:spPr>
        <p:txBody>
          <a:bodyPr>
            <a:normAutofit/>
          </a:bodyPr>
          <a:lstStyle>
            <a:lvl1pPr>
              <a:defRPr sz="4800" b="1"/>
            </a:lvl1pPr>
          </a:lstStyle>
          <a:p>
            <a:r>
              <a:rPr lang="en-US" altLang="zh-TW" dirty="0"/>
              <a:t>Thank you for listening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01874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結尾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" y="1"/>
            <a:ext cx="1218838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6109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FF99-5F9E-4D3F-9451-1FDF1D47008D}" type="datetimeFigureOut">
              <a:rPr lang="zh-TW" altLang="en-US" smtClean="0"/>
              <a:t>2023/9/20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2332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4" y="6377851"/>
            <a:ext cx="11664617" cy="304824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27383" y="274640"/>
            <a:ext cx="11133624" cy="5620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7" name="文字版面配置區 2"/>
          <p:cNvSpPr>
            <a:spLocks noGrp="1"/>
          </p:cNvSpPr>
          <p:nvPr>
            <p:ph type="body" idx="1"/>
          </p:nvPr>
        </p:nvSpPr>
        <p:spPr>
          <a:xfrm>
            <a:off x="527384" y="1220756"/>
            <a:ext cx="11055017" cy="4905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279563" y="6287300"/>
            <a:ext cx="5088565" cy="384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1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541731" y="6287297"/>
            <a:ext cx="648000" cy="37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9787ED73-6AC0-47A0-A494-754010562D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6951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  <p:sldLayoutId id="2147483813" r:id="rId17"/>
    <p:sldLayoutId id="2147483814" r:id="rId18"/>
    <p:sldLayoutId id="2147483815" r:id="rId19"/>
  </p:sldLayoutIdLst>
  <p:txStyles>
    <p:titleStyle>
      <a:lvl1pPr algn="l" defTabSz="1219170" rtl="0" eaLnBrk="1" latinLnBrk="0" hangingPunct="1">
        <a:spcBef>
          <a:spcPct val="0"/>
        </a:spcBef>
        <a:buNone/>
        <a:defRPr sz="3733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just" defTabSz="1219170" rtl="0" eaLnBrk="1" latinLnBrk="0" hangingPunct="1">
        <a:lnSpc>
          <a:spcPct val="150000"/>
        </a:lnSpc>
        <a:spcBef>
          <a:spcPct val="20000"/>
        </a:spcBef>
        <a:buClr>
          <a:schemeClr val="tx1"/>
        </a:buClr>
        <a:buFont typeface="Wingdings" charset="2"/>
        <a:buChar char="n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just" defTabSz="1219170" rtl="0" eaLnBrk="1" latinLnBrk="0" hangingPunct="1">
        <a:lnSpc>
          <a:spcPct val="150000"/>
        </a:lnSpc>
        <a:spcBef>
          <a:spcPct val="20000"/>
        </a:spcBef>
        <a:buClr>
          <a:schemeClr val="tx1"/>
        </a:buClr>
        <a:buFont typeface="Wingdings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just" defTabSz="1219170" rtl="0" eaLnBrk="1" latinLnBrk="0" hangingPunct="1">
        <a:lnSpc>
          <a:spcPct val="150000"/>
        </a:lnSpc>
        <a:spcBef>
          <a:spcPct val="20000"/>
        </a:spcBef>
        <a:buClr>
          <a:schemeClr val="tx1"/>
        </a:buClr>
        <a:buSzPct val="80000"/>
        <a:buFont typeface="Wingdings" charset="2"/>
        <a:buChar char="u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just" defTabSz="1219170" rtl="0" eaLnBrk="1" latinLnBrk="0" hangingPunct="1">
        <a:lnSpc>
          <a:spcPct val="150000"/>
        </a:lnSpc>
        <a:spcBef>
          <a:spcPct val="20000"/>
        </a:spcBef>
        <a:buClr>
          <a:schemeClr val="tx1"/>
        </a:buClr>
        <a:buSzPct val="80000"/>
        <a:buFont typeface="Wingdings" charset="2"/>
        <a:buChar char="u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just" defTabSz="1219170" rtl="0" eaLnBrk="1" latinLnBrk="0" hangingPunct="1">
        <a:lnSpc>
          <a:spcPct val="150000"/>
        </a:lnSpc>
        <a:spcBef>
          <a:spcPct val="20000"/>
        </a:spcBef>
        <a:buClr>
          <a:schemeClr val="tx1"/>
        </a:buClr>
        <a:buSzPct val="80000"/>
        <a:buFont typeface="Wingdings" charset="2"/>
        <a:buChar char="u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eUXg977N9LOQiGz6OU7oh57V5gUOHzHA?hl=zh-tw#scrollTo=V26Nn1f0Vsdm" TargetMode="Externa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hyperlink" Target="https://www.youtube.com/watch?v=QUT1VHiLmmI" TargetMode="Externa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2C775A-B570-EF82-5D8C-82D700B37D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Python</a:t>
            </a:r>
            <a:r>
              <a:rPr lang="zh-TW" altLang="en-US" dirty="0"/>
              <a:t>資料處理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928793-27EE-D981-6BF4-05B96DEAD7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使用</a:t>
            </a:r>
            <a:r>
              <a:rPr lang="en-US" altLang="zh-TW" dirty="0">
                <a:solidFill>
                  <a:schemeClr val="tx1"/>
                </a:solidFill>
              </a:rPr>
              <a:t>numpy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514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90587D-8137-482C-685A-1C483687F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64" y="609600"/>
            <a:ext cx="4953225" cy="1320800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什麼是</a:t>
            </a:r>
            <a:r>
              <a:rPr lang="en-US" altLang="zh-TW" dirty="0"/>
              <a:t>numpy</a:t>
            </a:r>
            <a:r>
              <a:rPr lang="zh-TW" altLang="en-US" dirty="0"/>
              <a:t>、</a:t>
            </a:r>
            <a:r>
              <a:rPr lang="en-US" altLang="zh-TW" dirty="0"/>
              <a:t>pandas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91B2B6-5D84-8F70-A72B-F536A67DA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361" y="2160589"/>
            <a:ext cx="4830991" cy="3880773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dirty="0"/>
              <a:t>numpy </a:t>
            </a:r>
            <a:r>
              <a:rPr lang="zh-TW" altLang="en-US" dirty="0"/>
              <a:t>適合處理多維陣列資料</a:t>
            </a:r>
            <a:endParaRPr lang="en-US" altLang="zh-TW" dirty="0"/>
          </a:p>
          <a:p>
            <a:r>
              <a:rPr lang="en-US" altLang="zh-TW" dirty="0"/>
              <a:t>pandas </a:t>
            </a:r>
            <a:r>
              <a:rPr lang="zh-TW" altLang="en-US" dirty="0"/>
              <a:t>適合處理資料表格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numpy</a:t>
            </a:r>
            <a:r>
              <a:rPr lang="en-US" altLang="zh-TW" dirty="0"/>
              <a:t> </a:t>
            </a:r>
            <a:r>
              <a:rPr lang="zh-TW" altLang="en-US" dirty="0"/>
              <a:t>是在使用 </a:t>
            </a:r>
            <a:r>
              <a:rPr lang="en-US" altLang="zh-TW" dirty="0"/>
              <a:t>python</a:t>
            </a:r>
            <a:r>
              <a:rPr lang="zh-TW" altLang="en-US" dirty="0"/>
              <a:t> 套件時，常見的資料處理模組</a:t>
            </a:r>
            <a:r>
              <a:rPr lang="en-US" altLang="zh-TW" dirty="0"/>
              <a:t>( pandas</a:t>
            </a:r>
            <a:r>
              <a:rPr lang="zh-TW" altLang="en-US" dirty="0"/>
              <a:t>、</a:t>
            </a:r>
            <a:r>
              <a:rPr lang="en-US" altLang="zh-TW" dirty="0" err="1"/>
              <a:t>TensorFlow</a:t>
            </a:r>
            <a:r>
              <a:rPr lang="en-US" altLang="zh-TW" dirty="0"/>
              <a:t>…)</a:t>
            </a:r>
          </a:p>
          <a:p>
            <a:endParaRPr lang="en-US" altLang="zh-TW" dirty="0"/>
          </a:p>
          <a:p>
            <a:r>
              <a:rPr lang="zh-TW" altLang="en-US" dirty="0"/>
              <a:t>資料科學相關的套件幾乎都是架構在 </a:t>
            </a:r>
            <a:r>
              <a:rPr lang="en-US" altLang="zh-TW" dirty="0" err="1"/>
              <a:t>Numpy</a:t>
            </a:r>
            <a:r>
              <a:rPr lang="zh-TW" altLang="en-US" dirty="0"/>
              <a:t>基礎上做應用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處理速度遠高於原生</a:t>
            </a:r>
            <a:r>
              <a:rPr lang="en-US" altLang="zh-TW" dirty="0"/>
              <a:t>list(</a:t>
            </a:r>
            <a:r>
              <a:rPr lang="zh-TW" altLang="en-US" dirty="0"/>
              <a:t> 底層</a:t>
            </a:r>
            <a:r>
              <a:rPr lang="en-US" altLang="zh-TW" dirty="0"/>
              <a:t>C</a:t>
            </a:r>
            <a:r>
              <a:rPr lang="zh-TW" altLang="en-US" dirty="0"/>
              <a:t>、</a:t>
            </a:r>
            <a:r>
              <a:rPr lang="en-US" altLang="zh-TW" dirty="0"/>
              <a:t>C++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381D268-1485-6701-EA9A-0CF526F93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352" y="816639"/>
            <a:ext cx="5421162" cy="219556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99DB7E2-D46D-5273-851E-9FBA3E613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918" y="3439020"/>
            <a:ext cx="2602341" cy="26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32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28CDA4-35CB-5012-7D15-4A89203D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Numpy ndarray</a:t>
            </a:r>
            <a:r>
              <a:rPr lang="zh-TW" altLang="en-US" dirty="0"/>
              <a:t>與內建</a:t>
            </a:r>
            <a:r>
              <a:rPr lang="en-US" altLang="zh-TW" dirty="0"/>
              <a:t>list</a:t>
            </a:r>
            <a:r>
              <a:rPr lang="zh-TW" altLang="en-US" dirty="0"/>
              <a:t>之差別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B1D55D-7793-C0EB-12BE-F8A996176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ndarray</a:t>
            </a:r>
            <a:r>
              <a:rPr lang="zh-TW" altLang="en-US" dirty="0"/>
              <a:t>每個元素： </a:t>
            </a:r>
            <a:endParaRPr lang="en-US" altLang="zh-TW" dirty="0"/>
          </a:p>
          <a:p>
            <a:r>
              <a:rPr lang="zh-TW" altLang="en-US" dirty="0"/>
              <a:t>資料量較小</a:t>
            </a:r>
            <a:r>
              <a:rPr lang="en-US" altLang="zh-TW" dirty="0"/>
              <a:t>(</a:t>
            </a:r>
            <a:r>
              <a:rPr lang="zh-TW" altLang="en-US" dirty="0"/>
              <a:t>不須儲存額外資訊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存取速度較快 因為型態單一</a:t>
            </a:r>
            <a:r>
              <a:rPr lang="en-US" altLang="zh-TW" dirty="0"/>
              <a:t>(</a:t>
            </a:r>
            <a:r>
              <a:rPr lang="zh-TW" altLang="en-US" dirty="0"/>
              <a:t>無須逐一檢查型別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602BB3C4-6C05-471A-325C-492823D7F893}"/>
              </a:ext>
            </a:extLst>
          </p:cNvPr>
          <p:cNvGrpSpPr/>
          <p:nvPr/>
        </p:nvGrpSpPr>
        <p:grpSpPr>
          <a:xfrm>
            <a:off x="677334" y="3432478"/>
            <a:ext cx="11123839" cy="3451018"/>
            <a:chOff x="133350" y="2160589"/>
            <a:chExt cx="12058650" cy="3665352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8ADD1862-2689-E7C1-B424-54111C0663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7596" t="53187" r="8859" b="3418"/>
            <a:stretch/>
          </p:blipFill>
          <p:spPr>
            <a:xfrm>
              <a:off x="8784523" y="4130491"/>
              <a:ext cx="2066925" cy="1695450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5F58704C-DE93-C44A-AF6C-022545DE5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3350" y="2160589"/>
              <a:ext cx="8779696" cy="3657322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068A3D30-48BC-5B3A-A908-73B72740E273}"/>
                </a:ext>
              </a:extLst>
            </p:cNvPr>
            <p:cNvSpPr txBox="1"/>
            <p:nvPr/>
          </p:nvSpPr>
          <p:spPr>
            <a:xfrm>
              <a:off x="10778952" y="4114431"/>
              <a:ext cx="1413048" cy="162492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1600" dirty="0">
                  <a:solidFill>
                    <a:srgbClr val="FF0000"/>
                  </a:solidFill>
                </a:rPr>
                <a:t>資料大小</a:t>
              </a:r>
              <a:endParaRPr lang="en-US" altLang="zh-TW" sz="1600" dirty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1600" dirty="0">
                  <a:solidFill>
                    <a:srgbClr val="FF0000"/>
                  </a:solidFill>
                </a:rPr>
                <a:t>參考次數</a:t>
              </a:r>
              <a:endParaRPr lang="en-US" altLang="zh-TW" sz="1600" dirty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1600" dirty="0">
                  <a:solidFill>
                    <a:srgbClr val="FF0000"/>
                  </a:solidFill>
                </a:rPr>
                <a:t>資料型態</a:t>
              </a:r>
              <a:endParaRPr lang="en-US" altLang="zh-TW" sz="1600" dirty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1600" dirty="0">
                  <a:solidFill>
                    <a:srgbClr val="FF0000"/>
                  </a:solidFill>
                </a:rPr>
                <a:t>資料值</a:t>
              </a:r>
            </a:p>
          </p:txBody>
        </p:sp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BEC1A5B4-9A83-74BE-07AF-4AF4E7C39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703" y="-9602"/>
            <a:ext cx="3095297" cy="527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1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28CDA4-35CB-5012-7D15-4A89203D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Numpy ndarray</a:t>
            </a:r>
            <a:r>
              <a:rPr lang="zh-TW" altLang="en-US" dirty="0"/>
              <a:t>與內建</a:t>
            </a:r>
            <a:r>
              <a:rPr lang="en-US" altLang="zh-TW" dirty="0"/>
              <a:t>list</a:t>
            </a:r>
            <a:r>
              <a:rPr lang="zh-TW" altLang="en-US" dirty="0"/>
              <a:t>之差別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B1D55D-7793-C0EB-12BE-F8A996176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Numpy</a:t>
            </a:r>
            <a:r>
              <a:rPr lang="zh-TW" altLang="en-US" dirty="0"/>
              <a:t>使用連續記憶體區塊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E71F414-86EA-8D93-354B-7D3C2ED56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576" y="2891114"/>
            <a:ext cx="9022189" cy="338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81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362006-D34F-72CA-413E-371297C0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  <a:r>
              <a:rPr lang="en-US" altLang="zh-TW" dirty="0"/>
              <a:t>numpy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385BF8-7985-47BA-97C7-66E51D2AA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pip install numpy</a:t>
            </a:r>
          </a:p>
          <a:p>
            <a:r>
              <a:rPr lang="zh-TW" altLang="en-US" dirty="0"/>
              <a:t>如果用</a:t>
            </a:r>
            <a:r>
              <a:rPr lang="en-US" altLang="zh-TW" dirty="0"/>
              <a:t>anaconda</a:t>
            </a:r>
            <a:r>
              <a:rPr lang="zh-TW" altLang="en-US" dirty="0"/>
              <a:t>管理環境 也可用</a:t>
            </a:r>
            <a:r>
              <a:rPr lang="en-US" altLang="zh-TW" dirty="0" err="1"/>
              <a:t>conda</a:t>
            </a:r>
            <a:r>
              <a:rPr lang="en-US" altLang="zh-TW" dirty="0"/>
              <a:t> install</a:t>
            </a:r>
            <a:r>
              <a:rPr lang="zh-TW" altLang="en-US" dirty="0"/>
              <a:t> </a:t>
            </a:r>
            <a:r>
              <a:rPr lang="en-US" altLang="zh-TW" dirty="0"/>
              <a:t>numpy</a:t>
            </a:r>
          </a:p>
          <a:p>
            <a:r>
              <a:rPr lang="zh-TW" altLang="en-US" dirty="0"/>
              <a:t>安裝</a:t>
            </a:r>
            <a:r>
              <a:rPr lang="en-US" altLang="zh-TW" dirty="0"/>
              <a:t>pandas</a:t>
            </a:r>
            <a:r>
              <a:rPr lang="zh-TW" altLang="en-US" dirty="0"/>
              <a:t>，或其他一些套件也會順便安裝</a:t>
            </a:r>
            <a:r>
              <a:rPr lang="en-US" altLang="zh-TW" dirty="0"/>
              <a:t>numpy</a:t>
            </a:r>
          </a:p>
          <a:p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214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2F28ED-E288-ADCF-0252-3EED59F4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numpy</a:t>
            </a:r>
            <a:r>
              <a:rPr lang="zh-TW" altLang="en-US" dirty="0"/>
              <a:t> 建立 </a:t>
            </a:r>
            <a:r>
              <a:rPr lang="en-US" altLang="zh-TW" dirty="0"/>
              <a:t>ndarray</a:t>
            </a:r>
            <a:br>
              <a:rPr lang="en-US" altLang="zh-TW" dirty="0"/>
            </a:br>
            <a:r>
              <a:rPr lang="en-US" altLang="zh-TW" dirty="0"/>
              <a:t>( N-dimensional array 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AC7E07-A8C9-0D85-01FF-073B1788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383" y="1080294"/>
            <a:ext cx="10390059" cy="4697411"/>
          </a:xfrm>
        </p:spPr>
        <p:txBody>
          <a:bodyPr>
            <a:noAutofit/>
          </a:bodyPr>
          <a:lstStyle/>
          <a:p>
            <a:r>
              <a:rPr lang="en-US" altLang="zh-TW" sz="2800" spc="300" dirty="0" err="1"/>
              <a:t>np.array</a:t>
            </a:r>
            <a:r>
              <a:rPr lang="en-US" altLang="zh-TW" sz="2800" spc="300" dirty="0"/>
              <a:t>()</a:t>
            </a:r>
            <a:r>
              <a:rPr lang="zh-TW" altLang="en-US" sz="2800" spc="300" dirty="0"/>
              <a:t> 可傳入</a:t>
            </a:r>
            <a:r>
              <a:rPr lang="en-US" altLang="zh-TW" sz="2800" spc="300" dirty="0"/>
              <a:t>tuple</a:t>
            </a:r>
            <a:r>
              <a:rPr lang="zh-TW" altLang="en-US" sz="2800" spc="300" dirty="0"/>
              <a:t>或</a:t>
            </a:r>
            <a:r>
              <a:rPr lang="en-US" altLang="zh-TW" sz="2800" spc="300" dirty="0"/>
              <a:t>list</a:t>
            </a:r>
          </a:p>
          <a:p>
            <a:r>
              <a:rPr lang="en-US" altLang="zh-TW" sz="2800" spc="300" dirty="0"/>
              <a:t>a = </a:t>
            </a:r>
            <a:r>
              <a:rPr lang="en-US" altLang="zh-TW" sz="2800" spc="300" dirty="0" err="1"/>
              <a:t>np.array</a:t>
            </a:r>
            <a:r>
              <a:rPr lang="en-US" altLang="zh-TW" sz="2800" spc="300" dirty="0"/>
              <a:t>(</a:t>
            </a:r>
            <a:r>
              <a:rPr lang="en-US" altLang="zh-TW" sz="2800" spc="300" dirty="0">
                <a:solidFill>
                  <a:srgbClr val="FF0000"/>
                </a:solidFill>
              </a:rPr>
              <a:t>[</a:t>
            </a:r>
            <a:r>
              <a:rPr lang="en-US" altLang="zh-TW" sz="2800" spc="300" dirty="0"/>
              <a:t>1</a:t>
            </a:r>
            <a:r>
              <a:rPr lang="zh-TW" altLang="en-US" sz="2800" spc="300" dirty="0"/>
              <a:t> </a:t>
            </a:r>
            <a:r>
              <a:rPr lang="en-US" altLang="zh-TW" sz="2800" spc="300" dirty="0"/>
              <a:t>,</a:t>
            </a:r>
            <a:r>
              <a:rPr lang="zh-TW" altLang="en-US" sz="2800" spc="300" dirty="0"/>
              <a:t> </a:t>
            </a:r>
            <a:r>
              <a:rPr lang="en-US" altLang="zh-TW" sz="2800" spc="300" dirty="0"/>
              <a:t>2</a:t>
            </a:r>
            <a:r>
              <a:rPr lang="zh-TW" altLang="en-US" sz="2800" spc="300" dirty="0"/>
              <a:t> </a:t>
            </a:r>
            <a:r>
              <a:rPr lang="en-US" altLang="zh-TW" sz="2800" spc="300" dirty="0"/>
              <a:t>,</a:t>
            </a:r>
            <a:r>
              <a:rPr lang="zh-TW" altLang="en-US" sz="2800" spc="300" dirty="0"/>
              <a:t> </a:t>
            </a:r>
            <a:r>
              <a:rPr lang="en-US" altLang="zh-TW" sz="2800" spc="300" dirty="0"/>
              <a:t>3</a:t>
            </a:r>
            <a:r>
              <a:rPr lang="zh-TW" altLang="en-US" sz="2800" spc="300" dirty="0"/>
              <a:t> </a:t>
            </a:r>
            <a:r>
              <a:rPr lang="en-US" altLang="zh-TW" sz="2800" spc="300" dirty="0"/>
              <a:t>,</a:t>
            </a:r>
            <a:r>
              <a:rPr lang="zh-TW" altLang="en-US" sz="2800" spc="300" dirty="0"/>
              <a:t> </a:t>
            </a:r>
            <a:r>
              <a:rPr lang="en-US" altLang="zh-TW" sz="2800" spc="300" dirty="0"/>
              <a:t>4</a:t>
            </a:r>
            <a:r>
              <a:rPr lang="en-US" altLang="zh-TW" sz="2800" spc="300" dirty="0">
                <a:solidFill>
                  <a:srgbClr val="FF0000"/>
                </a:solidFill>
              </a:rPr>
              <a:t>]</a:t>
            </a:r>
            <a:r>
              <a:rPr lang="en-US" altLang="zh-TW" sz="2800" spc="300" dirty="0"/>
              <a:t>) </a:t>
            </a:r>
            <a:r>
              <a:rPr lang="en-US" altLang="zh-TW" sz="2800" spc="3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</a:t>
            </a:r>
            <a:r>
              <a:rPr lang="zh-TW" altLang="en-US" sz="2800" spc="3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一維陣列</a:t>
            </a:r>
            <a:endParaRPr lang="en-US" altLang="zh-TW" sz="2800" spc="3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altLang="zh-TW" sz="2800" spc="300" dirty="0">
                <a:solidFill>
                  <a:schemeClr val="tx1"/>
                </a:solidFill>
              </a:rPr>
              <a:t>b = </a:t>
            </a:r>
            <a:r>
              <a:rPr lang="en-US" altLang="zh-TW" sz="2800" spc="300" dirty="0" err="1">
                <a:solidFill>
                  <a:schemeClr val="tx1"/>
                </a:solidFill>
              </a:rPr>
              <a:t>np.array</a:t>
            </a:r>
            <a:r>
              <a:rPr lang="en-US" altLang="zh-TW" sz="2800" spc="300" dirty="0">
                <a:solidFill>
                  <a:schemeClr val="tx1"/>
                </a:solidFill>
              </a:rPr>
              <a:t>(</a:t>
            </a:r>
            <a:r>
              <a:rPr lang="en-US" altLang="zh-TW" sz="2800" spc="300" dirty="0">
                <a:solidFill>
                  <a:srgbClr val="FF0000"/>
                </a:solidFill>
              </a:rPr>
              <a:t>[</a:t>
            </a:r>
            <a:r>
              <a:rPr lang="en-US" altLang="zh-TW" sz="2800" spc="300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en-US" altLang="zh-TW" sz="2800" spc="300" dirty="0">
                <a:solidFill>
                  <a:schemeClr val="tx1"/>
                </a:solidFill>
              </a:rPr>
              <a:t>2.5, 1, 3, 4.5</a:t>
            </a:r>
            <a:r>
              <a:rPr lang="en-US" altLang="zh-TW" sz="2800" spc="300" dirty="0">
                <a:solidFill>
                  <a:schemeClr val="accent5">
                    <a:lumMod val="75000"/>
                  </a:schemeClr>
                </a:solidFill>
              </a:rPr>
              <a:t>]</a:t>
            </a:r>
            <a:r>
              <a:rPr lang="en-US" altLang="zh-TW" sz="2800" spc="300" dirty="0">
                <a:solidFill>
                  <a:schemeClr val="tx1"/>
                </a:solidFill>
              </a:rPr>
              <a:t>, </a:t>
            </a:r>
          </a:p>
          <a:p>
            <a:pPr marL="0" indent="0">
              <a:buNone/>
            </a:pPr>
            <a:r>
              <a:rPr lang="en-US" altLang="zh-TW" sz="2800" spc="300" dirty="0">
                <a:solidFill>
                  <a:schemeClr val="accent5">
                    <a:lumMod val="75000"/>
                  </a:schemeClr>
                </a:solidFill>
              </a:rPr>
              <a:t>[</a:t>
            </a:r>
            <a:r>
              <a:rPr lang="en-US" altLang="zh-TW" sz="2800" spc="300" dirty="0">
                <a:solidFill>
                  <a:schemeClr val="tx1"/>
                </a:solidFill>
              </a:rPr>
              <a:t>5, 6, 7, 8</a:t>
            </a:r>
            <a:r>
              <a:rPr lang="en-US" altLang="zh-TW" sz="2800" spc="300" dirty="0">
                <a:solidFill>
                  <a:schemeClr val="accent5">
                    <a:lumMod val="75000"/>
                  </a:schemeClr>
                </a:solidFill>
              </a:rPr>
              <a:t>]</a:t>
            </a:r>
            <a:r>
              <a:rPr lang="en-US" altLang="zh-TW" sz="2800" spc="300" dirty="0">
                <a:solidFill>
                  <a:srgbClr val="FF0000"/>
                </a:solidFill>
              </a:rPr>
              <a:t>]</a:t>
            </a:r>
            <a:r>
              <a:rPr lang="en-US" altLang="zh-TW" sz="2800" spc="300" dirty="0">
                <a:solidFill>
                  <a:schemeClr val="tx1"/>
                </a:solidFill>
              </a:rPr>
              <a:t>, </a:t>
            </a:r>
            <a:r>
              <a:rPr lang="en-US" altLang="zh-TW" sz="2800" spc="3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dtype</a:t>
            </a:r>
            <a:r>
              <a:rPr lang="en-US" altLang="zh-TW" sz="2800" spc="3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= float</a:t>
            </a:r>
            <a:r>
              <a:rPr lang="en-US" altLang="zh-TW" sz="2800" spc="300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zh-TW" sz="2800" spc="3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</a:t>
            </a:r>
            <a:r>
              <a:rPr lang="zh-TW" altLang="en-US" sz="2800" spc="3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二維陣列建立 </a:t>
            </a:r>
            <a:r>
              <a:rPr lang="en-US" altLang="zh-TW" sz="2800" spc="3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+</a:t>
            </a:r>
            <a:r>
              <a:rPr lang="zh-TW" altLang="en-US" sz="2800" spc="3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sz="2800" spc="3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dtype</a:t>
            </a:r>
            <a:r>
              <a:rPr lang="zh-TW" altLang="en-US" sz="2800" spc="3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指定資料型態</a:t>
            </a:r>
            <a:endParaRPr lang="en-US" altLang="zh-TW" sz="2800" spc="3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altLang="zh-TW" sz="2800" spc="300" dirty="0"/>
              <a:t>a = </a:t>
            </a:r>
            <a:r>
              <a:rPr lang="en-US" altLang="zh-TW" sz="2800" spc="300" dirty="0" err="1"/>
              <a:t>np.array</a:t>
            </a:r>
            <a:r>
              <a:rPr lang="en-US" altLang="zh-TW" sz="2800" spc="300" dirty="0"/>
              <a:t> ( </a:t>
            </a:r>
            <a:r>
              <a:rPr lang="en-US" altLang="zh-TW" sz="2800" spc="300" dirty="0">
                <a:solidFill>
                  <a:srgbClr val="FF0000"/>
                </a:solidFill>
              </a:rPr>
              <a:t>[</a:t>
            </a:r>
            <a:r>
              <a:rPr lang="en-US" altLang="zh-TW" sz="2800" spc="300" dirty="0"/>
              <a:t>1 , 2 , 3 , 4 , 5</a:t>
            </a:r>
            <a:r>
              <a:rPr lang="en-US" altLang="zh-TW" sz="2800" spc="300" dirty="0">
                <a:solidFill>
                  <a:srgbClr val="FF0000"/>
                </a:solidFill>
              </a:rPr>
              <a:t>]</a:t>
            </a:r>
            <a:r>
              <a:rPr lang="en-US" altLang="zh-TW" sz="2800" spc="300" dirty="0"/>
              <a:t> , </a:t>
            </a:r>
            <a:r>
              <a:rPr lang="en-US" altLang="zh-TW" sz="2800" spc="3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ndmin</a:t>
            </a:r>
            <a:r>
              <a:rPr lang="en-US" altLang="zh-TW" sz="2800" spc="3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= 2</a:t>
            </a:r>
            <a:r>
              <a:rPr lang="en-US" altLang="zh-TW" sz="2800" spc="300" dirty="0"/>
              <a:t> ) </a:t>
            </a:r>
          </a:p>
          <a:p>
            <a:pPr marL="0" indent="0">
              <a:buNone/>
            </a:pPr>
            <a:r>
              <a:rPr lang="en-US" altLang="zh-TW" sz="2800" spc="3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 </a:t>
            </a:r>
            <a:r>
              <a:rPr lang="en-US" altLang="zh-TW" sz="2800" spc="3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ndmin</a:t>
            </a:r>
            <a:r>
              <a:rPr lang="zh-TW" altLang="en-US" sz="2800" spc="3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指定最小維度</a:t>
            </a:r>
            <a:endParaRPr lang="en-US" altLang="zh-TW" sz="2800" spc="3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193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273A66-C9CA-9304-439D-A746A8F16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38408"/>
            <a:ext cx="8596668" cy="1320800"/>
          </a:xfrm>
        </p:spPr>
        <p:txBody>
          <a:bodyPr/>
          <a:lstStyle/>
          <a:p>
            <a:r>
              <a:rPr lang="zh-TW" altLang="en-US" dirty="0"/>
              <a:t>其他建立方法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BC2FB7-FB18-8BE6-76EB-364AF897F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957" y="1293819"/>
            <a:ext cx="9894413" cy="602325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1400" dirty="0" err="1"/>
              <a:t>np.empty</a:t>
            </a:r>
            <a:r>
              <a:rPr lang="en-US" altLang="zh-TW" sz="1400" dirty="0"/>
              <a:t>(3,2)</a:t>
            </a:r>
            <a:r>
              <a:rPr lang="zh-TW" altLang="en-US" sz="1400" dirty="0"/>
              <a:t> </a:t>
            </a:r>
            <a:r>
              <a:rPr lang="en-US" altLang="zh-TW" sz="1400" dirty="0"/>
              <a:t>#</a:t>
            </a:r>
            <a:r>
              <a:rPr lang="zh-TW" altLang="en-US" sz="1400" dirty="0"/>
              <a:t> 初始</a:t>
            </a:r>
            <a:r>
              <a:rPr lang="en-US" altLang="zh-TW" sz="1400" dirty="0"/>
              <a:t>3*2</a:t>
            </a:r>
            <a:r>
              <a:rPr lang="zh-TW" altLang="en-US" sz="1400" dirty="0"/>
              <a:t>陣列不會清空 </a:t>
            </a:r>
            <a:r>
              <a:rPr lang="en-US" altLang="zh-TW" sz="1400" dirty="0"/>
              <a:t>(</a:t>
            </a:r>
            <a:r>
              <a:rPr lang="zh-TW" altLang="en-US" sz="1400" dirty="0"/>
              <a:t>記憶體內原始的資料</a:t>
            </a:r>
            <a:r>
              <a:rPr lang="en-US" altLang="zh-TW" sz="1400" dirty="0"/>
              <a:t>)</a:t>
            </a:r>
            <a:r>
              <a:rPr lang="zh-TW" altLang="en-US" sz="1400" dirty="0"/>
              <a:t> 速度較快</a:t>
            </a:r>
            <a:endParaRPr lang="en-US" altLang="zh-TW" sz="1400" dirty="0"/>
          </a:p>
          <a:p>
            <a:pPr marL="0" indent="0">
              <a:lnSpc>
                <a:spcPct val="100000"/>
              </a:lnSpc>
              <a:buNone/>
            </a:pPr>
            <a:endParaRPr lang="en-US" altLang="zh-TW" sz="1400" dirty="0"/>
          </a:p>
          <a:p>
            <a:pPr>
              <a:lnSpc>
                <a:spcPct val="100000"/>
              </a:lnSpc>
            </a:pPr>
            <a:r>
              <a:rPr lang="en-US" altLang="zh-TW" sz="1400" dirty="0" err="1"/>
              <a:t>np.zeros</a:t>
            </a:r>
            <a:r>
              <a:rPr lang="en-US" altLang="zh-TW" sz="1400" dirty="0"/>
              <a:t>(2,3) # 2 * 3 </a:t>
            </a:r>
            <a:r>
              <a:rPr lang="zh-TW" altLang="en-US" sz="1400" dirty="0"/>
              <a:t>零陣列</a:t>
            </a:r>
            <a:endParaRPr lang="en-US" altLang="zh-TW" sz="1400" dirty="0"/>
          </a:p>
          <a:p>
            <a:pPr>
              <a:lnSpc>
                <a:spcPct val="100000"/>
              </a:lnSpc>
            </a:pPr>
            <a:endParaRPr lang="en-US" altLang="zh-TW" sz="1400" dirty="0"/>
          </a:p>
          <a:p>
            <a:pPr>
              <a:lnSpc>
                <a:spcPct val="100000"/>
              </a:lnSpc>
            </a:pPr>
            <a:r>
              <a:rPr lang="en-US" altLang="zh-TW" sz="1400" dirty="0" err="1"/>
              <a:t>np.ones</a:t>
            </a:r>
            <a:r>
              <a:rPr lang="en-US" altLang="zh-TW" sz="1400" dirty="0"/>
              <a:t>((2, 3, 4)) #1</a:t>
            </a:r>
            <a:r>
              <a:rPr lang="zh-TW" altLang="en-US" sz="1400" dirty="0"/>
              <a:t>陣列 </a:t>
            </a:r>
            <a:r>
              <a:rPr lang="en-US" altLang="zh-TW" sz="1400" dirty="0"/>
              <a:t>2*3*4</a:t>
            </a:r>
          </a:p>
          <a:p>
            <a:pPr>
              <a:lnSpc>
                <a:spcPct val="100000"/>
              </a:lnSpc>
            </a:pPr>
            <a:endParaRPr lang="en-US" altLang="zh-TW" sz="1400" dirty="0"/>
          </a:p>
          <a:p>
            <a:pPr>
              <a:lnSpc>
                <a:spcPct val="100000"/>
              </a:lnSpc>
            </a:pPr>
            <a:r>
              <a:rPr lang="en-US" altLang="zh-TW" sz="1400" dirty="0" err="1"/>
              <a:t>np.full</a:t>
            </a:r>
            <a:r>
              <a:rPr lang="en-US" altLang="zh-TW" sz="1400" dirty="0"/>
              <a:t>((3,2), 8) # </a:t>
            </a:r>
            <a:r>
              <a:rPr lang="zh-TW" altLang="en-US" sz="1400" dirty="0"/>
              <a:t>用</a:t>
            </a:r>
            <a:r>
              <a:rPr lang="en-US" altLang="zh-TW" sz="1400" dirty="0"/>
              <a:t>8</a:t>
            </a:r>
            <a:r>
              <a:rPr lang="zh-TW" altLang="en-US" sz="1400" dirty="0"/>
              <a:t>自訂填滿</a:t>
            </a:r>
            <a:r>
              <a:rPr lang="en-US" altLang="zh-TW" sz="1400" dirty="0"/>
              <a:t>3*2</a:t>
            </a:r>
          </a:p>
          <a:p>
            <a:pPr>
              <a:lnSpc>
                <a:spcPct val="100000"/>
              </a:lnSpc>
            </a:pPr>
            <a:endParaRPr lang="en-US" altLang="zh-TW" sz="1400" dirty="0"/>
          </a:p>
          <a:p>
            <a:pPr>
              <a:lnSpc>
                <a:spcPct val="100000"/>
              </a:lnSpc>
            </a:pPr>
            <a:r>
              <a:rPr lang="en-US" altLang="zh-TW" sz="1400" dirty="0" err="1"/>
              <a:t>np.zeros_like</a:t>
            </a:r>
            <a:r>
              <a:rPr lang="en-US" altLang="zh-TW" sz="1400" dirty="0"/>
              <a:t>(a) # </a:t>
            </a:r>
            <a:r>
              <a:rPr lang="zh-TW" altLang="en-US" sz="1400" dirty="0"/>
              <a:t>依據傳入資料形狀創建</a:t>
            </a:r>
            <a:endParaRPr lang="en-US" altLang="zh-TW" sz="1400" dirty="0"/>
          </a:p>
          <a:p>
            <a:pPr>
              <a:lnSpc>
                <a:spcPct val="100000"/>
              </a:lnSpc>
            </a:pPr>
            <a:endParaRPr lang="en-US" altLang="zh-TW" sz="1400" dirty="0"/>
          </a:p>
          <a:p>
            <a:pPr>
              <a:lnSpc>
                <a:spcPct val="100000"/>
              </a:lnSpc>
            </a:pPr>
            <a:r>
              <a:rPr lang="en-US" altLang="zh-TW" sz="1400" dirty="0" err="1"/>
              <a:t>np.arange</a:t>
            </a:r>
            <a:r>
              <a:rPr lang="en-US" altLang="zh-TW" sz="1400" dirty="0"/>
              <a:t>(1, 10, 2) # 1~9 </a:t>
            </a:r>
            <a:r>
              <a:rPr lang="zh-TW" altLang="en-US" sz="1400" dirty="0"/>
              <a:t> 間隔</a:t>
            </a:r>
            <a:r>
              <a:rPr lang="en-US" altLang="zh-TW" sz="1400" dirty="0"/>
              <a:t>2</a:t>
            </a:r>
          </a:p>
          <a:p>
            <a:pPr>
              <a:lnSpc>
                <a:spcPct val="100000"/>
              </a:lnSpc>
            </a:pPr>
            <a:endParaRPr lang="en-US" altLang="zh-TW" sz="1400" dirty="0"/>
          </a:p>
          <a:p>
            <a:pPr>
              <a:lnSpc>
                <a:spcPct val="100000"/>
              </a:lnSpc>
            </a:pPr>
            <a:r>
              <a:rPr lang="en-US" altLang="zh-TW" sz="1400" dirty="0" err="1"/>
              <a:t>np.linspace</a:t>
            </a:r>
            <a:r>
              <a:rPr lang="en-US" altLang="zh-TW" sz="1400" dirty="0"/>
              <a:t>(0, 10, 5) # 0~10 </a:t>
            </a:r>
            <a:r>
              <a:rPr lang="zh-TW" altLang="en-US" sz="1400" dirty="0"/>
              <a:t>五等分</a:t>
            </a:r>
            <a:endParaRPr lang="en-US" altLang="zh-TW" sz="1400" dirty="0"/>
          </a:p>
          <a:p>
            <a:pPr>
              <a:lnSpc>
                <a:spcPct val="100000"/>
              </a:lnSpc>
            </a:pPr>
            <a:endParaRPr lang="en-US" altLang="zh-TW" sz="1400" dirty="0"/>
          </a:p>
          <a:p>
            <a:pPr>
              <a:lnSpc>
                <a:spcPct val="100000"/>
              </a:lnSpc>
            </a:pPr>
            <a:r>
              <a:rPr lang="en-US" altLang="zh-TW" sz="1400" dirty="0" err="1"/>
              <a:t>np.eye</a:t>
            </a:r>
            <a:r>
              <a:rPr lang="en-US" altLang="zh-TW" sz="1400" dirty="0"/>
              <a:t>(2)</a:t>
            </a:r>
            <a:r>
              <a:rPr lang="zh-TW" altLang="en-US" sz="1400" dirty="0"/>
              <a:t> </a:t>
            </a:r>
            <a:r>
              <a:rPr lang="en-US" altLang="zh-TW" sz="1400" dirty="0"/>
              <a:t># </a:t>
            </a:r>
            <a:r>
              <a:rPr lang="zh-TW" altLang="en-US" sz="1400" dirty="0"/>
              <a:t>單位矩陣</a:t>
            </a:r>
            <a:r>
              <a:rPr lang="en-US" altLang="zh-TW" sz="1400" dirty="0"/>
              <a:t>2*2</a:t>
            </a:r>
            <a:endParaRPr lang="zh-TW" altLang="en-US" sz="1400" dirty="0"/>
          </a:p>
          <a:p>
            <a:endParaRPr lang="en-US" altLang="zh-TW" sz="1400" dirty="0"/>
          </a:p>
          <a:p>
            <a:r>
              <a:rPr lang="en-US" altLang="zh-TW" sz="1400" dirty="0" err="1"/>
              <a:t>np.random.random</a:t>
            </a:r>
            <a:r>
              <a:rPr lang="en-US" altLang="zh-TW" sz="1400" dirty="0"/>
              <a:t>((2,3)) # </a:t>
            </a:r>
            <a:r>
              <a:rPr lang="zh-TW" altLang="en-US" sz="1400" dirty="0"/>
              <a:t>隨機浮點</a:t>
            </a:r>
            <a:r>
              <a:rPr lang="en-US" altLang="zh-TW" sz="1400" dirty="0"/>
              <a:t>2~3</a:t>
            </a:r>
            <a:endParaRPr lang="zh-TW" altLang="en-US" sz="1400" dirty="0"/>
          </a:p>
          <a:p>
            <a:endParaRPr lang="zh-TW" altLang="en-US" sz="2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9229C11-20B5-9251-0E96-5A9B4D3CF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992" y="1973264"/>
            <a:ext cx="6807653" cy="347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51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C593CA-B59D-2B91-25AA-3C0443D2C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ndarray </a:t>
            </a:r>
            <a:r>
              <a:rPr lang="zh-TW" altLang="en-US" dirty="0"/>
              <a:t>屬性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166478-C0F7-36D2-D091-EF86FF2F9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Ndim</a:t>
            </a:r>
            <a:r>
              <a:rPr lang="en-US" altLang="zh-TW" dirty="0"/>
              <a:t> : 2 # </a:t>
            </a:r>
            <a:r>
              <a:rPr lang="zh-TW" altLang="en-US" dirty="0"/>
              <a:t>維度</a:t>
            </a:r>
            <a:endParaRPr lang="en-US" altLang="zh-TW" dirty="0"/>
          </a:p>
          <a:p>
            <a:r>
              <a:rPr lang="en-US" altLang="zh-TW" dirty="0"/>
              <a:t>Shape :</a:t>
            </a:r>
            <a:r>
              <a:rPr lang="zh-TW" altLang="en-US" dirty="0"/>
              <a:t> </a:t>
            </a:r>
            <a:r>
              <a:rPr lang="en-US" altLang="zh-TW" dirty="0"/>
              <a:t>(2,3)</a:t>
            </a:r>
            <a:r>
              <a:rPr lang="zh-TW" altLang="en-US" dirty="0"/>
              <a:t> </a:t>
            </a:r>
            <a:r>
              <a:rPr lang="en-US" altLang="zh-TW" dirty="0"/>
              <a:t>#</a:t>
            </a:r>
            <a:r>
              <a:rPr lang="zh-TW" altLang="en-US" dirty="0"/>
              <a:t> 形狀</a:t>
            </a:r>
            <a:endParaRPr lang="en-US" altLang="zh-TW" dirty="0"/>
          </a:p>
          <a:p>
            <a:r>
              <a:rPr lang="en-US" altLang="zh-TW" dirty="0"/>
              <a:t>Size : 6 #</a:t>
            </a:r>
            <a:r>
              <a:rPr lang="zh-TW" altLang="en-US" dirty="0"/>
              <a:t> 元素總數量</a:t>
            </a:r>
            <a:endParaRPr lang="en-US" altLang="zh-TW" dirty="0"/>
          </a:p>
          <a:p>
            <a:r>
              <a:rPr lang="en-US" altLang="zh-TW" dirty="0" err="1"/>
              <a:t>dtype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資料型態</a:t>
            </a:r>
            <a:r>
              <a:rPr lang="en-US" altLang="zh-TW" dirty="0"/>
              <a:t>(string</a:t>
            </a:r>
            <a:r>
              <a:rPr lang="zh-TW" altLang="en-US" dirty="0"/>
              <a:t>、</a:t>
            </a:r>
            <a:r>
              <a:rPr lang="en-US" altLang="zh-TW" dirty="0"/>
              <a:t>int32</a:t>
            </a:r>
            <a:r>
              <a:rPr lang="zh-TW" altLang="en-US" dirty="0"/>
              <a:t>、</a:t>
            </a:r>
            <a:r>
              <a:rPr lang="en-US" altLang="zh-TW" dirty="0"/>
              <a:t>float64…)</a:t>
            </a:r>
          </a:p>
          <a:p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337050" y="23939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grpSp>
        <p:nvGrpSpPr>
          <p:cNvPr id="23" name="群組 22"/>
          <p:cNvGrpSpPr/>
          <p:nvPr/>
        </p:nvGrpSpPr>
        <p:grpSpPr>
          <a:xfrm>
            <a:off x="6642023" y="2723134"/>
            <a:ext cx="3960333" cy="3068259"/>
            <a:chOff x="2167417" y="1973641"/>
            <a:chExt cx="3960333" cy="3068259"/>
          </a:xfrm>
        </p:grpSpPr>
        <p:sp>
          <p:nvSpPr>
            <p:cNvPr id="4" name="矩形 3"/>
            <p:cNvSpPr/>
            <p:nvPr/>
          </p:nvSpPr>
          <p:spPr>
            <a:xfrm>
              <a:off x="3276600" y="3136900"/>
              <a:ext cx="2851150" cy="184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" name="直線單箭頭接點 6"/>
            <p:cNvCxnSpPr/>
            <p:nvPr/>
          </p:nvCxnSpPr>
          <p:spPr>
            <a:xfrm flipV="1">
              <a:off x="3276600" y="2698750"/>
              <a:ext cx="2851150" cy="10188"/>
            </a:xfrm>
            <a:prstGeom prst="straightConnector1">
              <a:avLst/>
            </a:prstGeom>
            <a:ln w="57150" cap="flat" cmpd="sng" algn="ctr">
              <a:solidFill>
                <a:schemeClr val="accent5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3416300" y="3276600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4337050" y="3273825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2</a:t>
              </a:r>
              <a:endParaRPr lang="zh-TW" altLang="en-US" b="1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5257800" y="3273825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3</a:t>
              </a:r>
              <a:endParaRPr lang="zh-TW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416300" y="4143775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4</a:t>
              </a:r>
              <a:endParaRPr lang="zh-TW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4337050" y="4141000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5</a:t>
              </a:r>
              <a:endParaRPr lang="zh-TW" altLang="en-US" b="1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5257800" y="4141000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6</a:t>
              </a:r>
              <a:endParaRPr lang="zh-TW" altLang="en-US" dirty="0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4429415" y="1973641"/>
              <a:ext cx="48122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400" dirty="0"/>
                <a:t>3</a:t>
              </a:r>
              <a:endParaRPr lang="zh-TW" altLang="en-US" sz="4400" dirty="0"/>
            </a:p>
          </p:txBody>
        </p:sp>
        <p:cxnSp>
          <p:nvCxnSpPr>
            <p:cNvPr id="18" name="直線單箭頭接點 17"/>
            <p:cNvCxnSpPr/>
            <p:nvPr/>
          </p:nvCxnSpPr>
          <p:spPr>
            <a:xfrm flipH="1">
              <a:off x="2806700" y="3136900"/>
              <a:ext cx="12700" cy="1905000"/>
            </a:xfrm>
            <a:prstGeom prst="straightConnector1">
              <a:avLst/>
            </a:prstGeom>
            <a:ln w="57150" cap="flat" cmpd="sng" algn="ctr">
              <a:solidFill>
                <a:schemeClr val="accent5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167417" y="3636617"/>
              <a:ext cx="48122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400" dirty="0"/>
                <a:t>2</a:t>
              </a:r>
              <a:endParaRPr lang="zh-TW" altLang="en-US" sz="4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5777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29AB9D-76A4-4E3A-9E9F-D2164225C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軸向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B6FE61-4D8E-D394-046F-FE1FEDF65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383" y="1329791"/>
            <a:ext cx="10350645" cy="4523990"/>
          </a:xfrm>
        </p:spPr>
        <p:txBody>
          <a:bodyPr/>
          <a:lstStyle/>
          <a:p>
            <a:r>
              <a:rPr lang="zh-TW" altLang="en-US" dirty="0"/>
              <a:t>軸向順序為存取資料順序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52BC6F7-8731-8C8D-E18C-8DB4B1B1A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963981"/>
            <a:ext cx="9065756" cy="245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5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57F2C7-BC6B-9A77-23A5-05768AC5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ndarray </a:t>
            </a:r>
            <a:r>
              <a:rPr lang="zh-TW" altLang="en-US" dirty="0"/>
              <a:t>基礎運算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42F5B1-8302-5E2E-5F95-C80AC6EDF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243772" cy="3880773"/>
          </a:xfrm>
        </p:spPr>
        <p:txBody>
          <a:bodyPr/>
          <a:lstStyle/>
          <a:p>
            <a:r>
              <a:rPr lang="zh-TW" altLang="en-US" dirty="0"/>
              <a:t>逐元運算</a:t>
            </a:r>
            <a:r>
              <a:rPr lang="en-US" altLang="zh-TW" dirty="0"/>
              <a:t>(</a:t>
            </a:r>
            <a:r>
              <a:rPr lang="zh-TW" altLang="en-US" dirty="0"/>
              <a:t> 逐一相加 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Ex: </a:t>
            </a:r>
            <a:r>
              <a:rPr lang="zh-TW" altLang="en-US" dirty="0"/>
              <a:t>加減乘除、比大小</a:t>
            </a:r>
          </a:p>
        </p:txBody>
      </p:sp>
      <p:grpSp>
        <p:nvGrpSpPr>
          <p:cNvPr id="17" name="群組 16"/>
          <p:cNvGrpSpPr/>
          <p:nvPr/>
        </p:nvGrpSpPr>
        <p:grpSpPr>
          <a:xfrm>
            <a:off x="6595691" y="1166257"/>
            <a:ext cx="2851150" cy="943354"/>
            <a:chOff x="6026908" y="3557209"/>
            <a:chExt cx="2851150" cy="943354"/>
          </a:xfrm>
        </p:grpSpPr>
        <p:sp>
          <p:nvSpPr>
            <p:cNvPr id="5" name="矩形 4"/>
            <p:cNvSpPr/>
            <p:nvPr/>
          </p:nvSpPr>
          <p:spPr>
            <a:xfrm>
              <a:off x="6026908" y="3557209"/>
              <a:ext cx="2851150" cy="9433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6166608" y="3663761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7092878" y="3660067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5</a:t>
              </a:r>
              <a:endParaRPr lang="zh-TW" altLang="en-US" b="1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8008108" y="3660067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3</a:t>
              </a:r>
              <a:endParaRPr lang="zh-TW" altLang="en-US" dirty="0"/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6595691" y="2895306"/>
            <a:ext cx="2851150" cy="943354"/>
            <a:chOff x="6026908" y="4547043"/>
            <a:chExt cx="2851150" cy="943354"/>
          </a:xfrm>
        </p:grpSpPr>
        <p:sp>
          <p:nvSpPr>
            <p:cNvPr id="16" name="矩形 15"/>
            <p:cNvSpPr/>
            <p:nvPr/>
          </p:nvSpPr>
          <p:spPr>
            <a:xfrm>
              <a:off x="6026908" y="4547043"/>
              <a:ext cx="2851150" cy="9433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6166608" y="4657348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5</a:t>
              </a:r>
              <a:endParaRPr lang="zh-TW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7087358" y="4657348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8</a:t>
              </a:r>
              <a:endParaRPr lang="zh-TW" altLang="en-US" b="1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8008108" y="4657348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3</a:t>
              </a:r>
              <a:endParaRPr lang="zh-TW" altLang="en-US" dirty="0"/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6595691" y="4650924"/>
            <a:ext cx="2851150" cy="943354"/>
            <a:chOff x="6026908" y="3557209"/>
            <a:chExt cx="2851150" cy="943354"/>
          </a:xfrm>
        </p:grpSpPr>
        <p:sp>
          <p:nvSpPr>
            <p:cNvPr id="20" name="矩形 19"/>
            <p:cNvSpPr/>
            <p:nvPr/>
          </p:nvSpPr>
          <p:spPr>
            <a:xfrm>
              <a:off x="6026908" y="3557209"/>
              <a:ext cx="2851150" cy="9433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6166608" y="3663761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6</a:t>
              </a:r>
              <a:endParaRPr lang="zh-TW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7092878" y="3660067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13</a:t>
              </a:r>
              <a:endParaRPr lang="zh-TW" altLang="en-US" b="1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8008108" y="3660067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6</a:t>
              </a:r>
              <a:endParaRPr lang="zh-TW" altLang="en-US" dirty="0"/>
            </a:p>
          </p:txBody>
        </p:sp>
      </p:grpSp>
      <p:sp>
        <p:nvSpPr>
          <p:cNvPr id="25" name="加號 24"/>
          <p:cNvSpPr/>
          <p:nvPr/>
        </p:nvSpPr>
        <p:spPr>
          <a:xfrm>
            <a:off x="7713327" y="2164891"/>
            <a:ext cx="615878" cy="64856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等於 25"/>
          <p:cNvSpPr/>
          <p:nvPr/>
        </p:nvSpPr>
        <p:spPr>
          <a:xfrm rot="5400000">
            <a:off x="7691066" y="3844742"/>
            <a:ext cx="711200" cy="80010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7" name="加號 26"/>
          <p:cNvSpPr/>
          <p:nvPr/>
        </p:nvSpPr>
        <p:spPr>
          <a:xfrm>
            <a:off x="6817977" y="2164891"/>
            <a:ext cx="615878" cy="64856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加號 27"/>
          <p:cNvSpPr/>
          <p:nvPr/>
        </p:nvSpPr>
        <p:spPr>
          <a:xfrm>
            <a:off x="8659477" y="2178175"/>
            <a:ext cx="615878" cy="64856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等於 28"/>
          <p:cNvSpPr/>
          <p:nvPr/>
        </p:nvSpPr>
        <p:spPr>
          <a:xfrm rot="5400000">
            <a:off x="6709811" y="3844742"/>
            <a:ext cx="711200" cy="80010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0" name="等於 29"/>
          <p:cNvSpPr/>
          <p:nvPr/>
        </p:nvSpPr>
        <p:spPr>
          <a:xfrm rot="5400000">
            <a:off x="8665863" y="3844742"/>
            <a:ext cx="711200" cy="80010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1AA44F-4E20-21FD-EE89-EF2DD225C2EA}"/>
              </a:ext>
            </a:extLst>
          </p:cNvPr>
          <p:cNvSpPr/>
          <p:nvPr/>
        </p:nvSpPr>
        <p:spPr>
          <a:xfrm>
            <a:off x="4999918" y="4753782"/>
            <a:ext cx="648280" cy="595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2634CD-A8B4-BE03-6380-0824FD9E445F}"/>
              </a:ext>
            </a:extLst>
          </p:cNvPr>
          <p:cNvSpPr/>
          <p:nvPr/>
        </p:nvSpPr>
        <p:spPr>
          <a:xfrm>
            <a:off x="4999918" y="1404246"/>
            <a:ext cx="648280" cy="595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8DFF2F-B970-B15C-74F0-C67260EE8EE0}"/>
              </a:ext>
            </a:extLst>
          </p:cNvPr>
          <p:cNvSpPr/>
          <p:nvPr/>
        </p:nvSpPr>
        <p:spPr>
          <a:xfrm>
            <a:off x="4999918" y="3153026"/>
            <a:ext cx="648280" cy="595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89049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57F2C7-BC6B-9A77-23A5-05768AC5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ndarray </a:t>
            </a:r>
            <a:r>
              <a:rPr lang="zh-TW" altLang="en-US" dirty="0"/>
              <a:t>基礎運算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42F5B1-8302-5E2E-5F95-C80AC6EDF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793066" cy="3880773"/>
          </a:xfrm>
        </p:spPr>
        <p:txBody>
          <a:bodyPr/>
          <a:lstStyle/>
          <a:p>
            <a:r>
              <a:rPr lang="zh-TW" altLang="en-US" dirty="0"/>
              <a:t>矩陣運算</a:t>
            </a:r>
            <a:endParaRPr lang="en-US" altLang="zh-TW" dirty="0"/>
          </a:p>
          <a:p>
            <a:r>
              <a:rPr lang="zh-TW" altLang="en-US" dirty="0"/>
              <a:t>內積、外積</a:t>
            </a:r>
            <a:endParaRPr lang="en-US" altLang="zh-TW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AB58E124-A528-8D10-3FA6-8FAED73FE8CF}"/>
              </a:ext>
            </a:extLst>
          </p:cNvPr>
          <p:cNvGrpSpPr/>
          <p:nvPr/>
        </p:nvGrpSpPr>
        <p:grpSpPr>
          <a:xfrm>
            <a:off x="677334" y="4035913"/>
            <a:ext cx="2851150" cy="1886708"/>
            <a:chOff x="677334" y="4035913"/>
            <a:chExt cx="2851150" cy="1886708"/>
          </a:xfrm>
        </p:grpSpPr>
        <p:grpSp>
          <p:nvGrpSpPr>
            <p:cNvPr id="17" name="群組 16"/>
            <p:cNvGrpSpPr/>
            <p:nvPr/>
          </p:nvGrpSpPr>
          <p:grpSpPr>
            <a:xfrm>
              <a:off x="677334" y="4035913"/>
              <a:ext cx="2851150" cy="943354"/>
              <a:chOff x="6026908" y="3557209"/>
              <a:chExt cx="2851150" cy="943354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026908" y="3557209"/>
                <a:ext cx="2851150" cy="94335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6166608" y="3663761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7092878" y="3660067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/>
                  <a:t>3</a:t>
                </a:r>
                <a:endParaRPr lang="zh-TW" altLang="en-US" b="1" dirty="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8008108" y="3660067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7</a:t>
                </a:r>
                <a:endParaRPr lang="zh-TW" altLang="en-US" dirty="0"/>
              </a:p>
            </p:txBody>
          </p:sp>
        </p:grpSp>
        <p:grpSp>
          <p:nvGrpSpPr>
            <p:cNvPr id="18" name="群組 17"/>
            <p:cNvGrpSpPr/>
            <p:nvPr/>
          </p:nvGrpSpPr>
          <p:grpSpPr>
            <a:xfrm>
              <a:off x="677334" y="4979267"/>
              <a:ext cx="2851150" cy="943354"/>
              <a:chOff x="6026908" y="4547043"/>
              <a:chExt cx="2851150" cy="943354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6026908" y="4547043"/>
                <a:ext cx="2851150" cy="94335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6166608" y="4657348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2</a:t>
                </a:r>
                <a:endParaRPr lang="zh-TW" altLang="en-US" dirty="0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7087358" y="4657348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/>
                  <a:t>5</a:t>
                </a:r>
                <a:endParaRPr lang="zh-TW" altLang="en-US" b="1" dirty="0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8008108" y="4657348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10</a:t>
                </a:r>
                <a:endParaRPr lang="zh-TW" altLang="en-US" dirty="0"/>
              </a:p>
            </p:txBody>
          </p:sp>
        </p:grpSp>
      </p:grpSp>
      <p:grpSp>
        <p:nvGrpSpPr>
          <p:cNvPr id="15" name="群組 14"/>
          <p:cNvGrpSpPr/>
          <p:nvPr/>
        </p:nvGrpSpPr>
        <p:grpSpPr>
          <a:xfrm>
            <a:off x="4400369" y="3560156"/>
            <a:ext cx="2334661" cy="2730090"/>
            <a:chOff x="4400369" y="3560156"/>
            <a:chExt cx="2334661" cy="2730090"/>
          </a:xfrm>
        </p:grpSpPr>
        <p:grpSp>
          <p:nvGrpSpPr>
            <p:cNvPr id="31" name="群組 30"/>
            <p:cNvGrpSpPr/>
            <p:nvPr/>
          </p:nvGrpSpPr>
          <p:grpSpPr>
            <a:xfrm rot="5400000">
              <a:off x="3609355" y="4351170"/>
              <a:ext cx="2730090" cy="1148061"/>
              <a:chOff x="6026908" y="3557209"/>
              <a:chExt cx="2851150" cy="943354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6026908" y="3557209"/>
                <a:ext cx="2851150" cy="94335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6166608" y="3663761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/>
                  <a:t>2</a:t>
                </a:r>
                <a:endParaRPr lang="zh-TW" altLang="en-US" dirty="0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7092878" y="3660067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b="1" dirty="0"/>
                  <a:t>5</a:t>
                </a:r>
                <a:endParaRPr lang="zh-TW" altLang="en-US" b="1" dirty="0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8008108" y="3660067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/>
                  <a:t>5</a:t>
                </a:r>
                <a:endParaRPr lang="zh-TW" altLang="en-US" dirty="0"/>
              </a:p>
            </p:txBody>
          </p:sp>
        </p:grpSp>
        <p:grpSp>
          <p:nvGrpSpPr>
            <p:cNvPr id="36" name="群組 35"/>
            <p:cNvGrpSpPr/>
            <p:nvPr/>
          </p:nvGrpSpPr>
          <p:grpSpPr>
            <a:xfrm rot="5400000">
              <a:off x="4795955" y="4351170"/>
              <a:ext cx="2730090" cy="1148061"/>
              <a:chOff x="6026908" y="4547043"/>
              <a:chExt cx="2851150" cy="943354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6026908" y="4547043"/>
                <a:ext cx="2851150" cy="94335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166608" y="4657348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7087358" y="4657348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b="1" dirty="0"/>
                  <a:t>3</a:t>
                </a:r>
                <a:endParaRPr lang="zh-TW" altLang="en-US" b="1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8008108" y="4657348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/>
                  <a:t>3</a:t>
                </a:r>
                <a:endParaRPr lang="zh-TW" altLang="en-US" dirty="0"/>
              </a:p>
            </p:txBody>
          </p:sp>
        </p:grpSp>
      </p:grpSp>
      <p:sp>
        <p:nvSpPr>
          <p:cNvPr id="4" name="流程圖: 接點 3"/>
          <p:cNvSpPr/>
          <p:nvPr/>
        </p:nvSpPr>
        <p:spPr>
          <a:xfrm>
            <a:off x="3877995" y="4793279"/>
            <a:ext cx="382675" cy="371975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/>
          <p:cNvGrpSpPr/>
          <p:nvPr/>
        </p:nvGrpSpPr>
        <p:grpSpPr>
          <a:xfrm>
            <a:off x="7848427" y="4092092"/>
            <a:ext cx="1981200" cy="943354"/>
            <a:chOff x="7848427" y="4092092"/>
            <a:chExt cx="1981200" cy="943354"/>
          </a:xfrm>
        </p:grpSpPr>
        <p:sp>
          <p:nvSpPr>
            <p:cNvPr id="42" name="矩形 41"/>
            <p:cNvSpPr/>
            <p:nvPr/>
          </p:nvSpPr>
          <p:spPr>
            <a:xfrm>
              <a:off x="7848427" y="4092092"/>
              <a:ext cx="1981200" cy="9433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7988127" y="4198644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52</a:t>
              </a:r>
              <a:endParaRPr lang="zh-TW" altLang="en-US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8914397" y="4194950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31</a:t>
              </a:r>
              <a:endParaRPr lang="zh-TW" altLang="en-US" b="1" dirty="0"/>
            </a:p>
          </p:txBody>
        </p:sp>
      </p:grpSp>
      <p:grpSp>
        <p:nvGrpSpPr>
          <p:cNvPr id="51" name="群組 50"/>
          <p:cNvGrpSpPr/>
          <p:nvPr/>
        </p:nvGrpSpPr>
        <p:grpSpPr>
          <a:xfrm>
            <a:off x="7848427" y="5036313"/>
            <a:ext cx="1981200" cy="943354"/>
            <a:chOff x="7848427" y="4092092"/>
            <a:chExt cx="1981200" cy="943354"/>
          </a:xfrm>
        </p:grpSpPr>
        <p:sp>
          <p:nvSpPr>
            <p:cNvPr id="52" name="矩形 51"/>
            <p:cNvSpPr/>
            <p:nvPr/>
          </p:nvSpPr>
          <p:spPr>
            <a:xfrm>
              <a:off x="7848427" y="4092092"/>
              <a:ext cx="1981200" cy="9433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7988127" y="4198644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79</a:t>
              </a:r>
              <a:endParaRPr lang="zh-TW" altLang="en-US" dirty="0"/>
            </a:p>
          </p:txBody>
        </p:sp>
        <p:sp>
          <p:nvSpPr>
            <p:cNvPr id="54" name="矩形 53"/>
            <p:cNvSpPr/>
            <p:nvPr/>
          </p:nvSpPr>
          <p:spPr>
            <a:xfrm>
              <a:off x="8914397" y="4194950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47</a:t>
              </a:r>
              <a:endParaRPr lang="zh-TW" altLang="en-US" b="1" dirty="0"/>
            </a:p>
          </p:txBody>
        </p:sp>
      </p:grpSp>
      <p:sp>
        <p:nvSpPr>
          <p:cNvPr id="13" name="等於 12"/>
          <p:cNvSpPr/>
          <p:nvPr/>
        </p:nvSpPr>
        <p:spPr>
          <a:xfrm>
            <a:off x="6825999" y="4619661"/>
            <a:ext cx="727083" cy="781050"/>
          </a:xfrm>
          <a:prstGeom prst="mathEqual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585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BA688D-CE32-81C3-9F79-4B5E124BC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ndarray </a:t>
            </a:r>
            <a:r>
              <a:rPr lang="zh-TW" altLang="en-US" dirty="0"/>
              <a:t>形狀操作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D7827C-4E5D-914F-9DA2-2FEF109F0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將資料</a:t>
            </a:r>
            <a:r>
              <a:rPr lang="en-US" altLang="zh-TW" dirty="0"/>
              <a:t>shape</a:t>
            </a:r>
            <a:r>
              <a:rPr lang="zh-TW" altLang="en-US" dirty="0"/>
              <a:t>改變</a:t>
            </a:r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002029BD-4B5A-8247-8479-329F55D2DC73}"/>
              </a:ext>
            </a:extLst>
          </p:cNvPr>
          <p:cNvGrpSpPr/>
          <p:nvPr/>
        </p:nvGrpSpPr>
        <p:grpSpPr>
          <a:xfrm>
            <a:off x="852216" y="3429000"/>
            <a:ext cx="3838402" cy="640693"/>
            <a:chOff x="2373841" y="1930400"/>
            <a:chExt cx="5702300" cy="943354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A0DD73A-23D1-5CAA-AE36-C2B8B74F0EA4}"/>
                </a:ext>
              </a:extLst>
            </p:cNvPr>
            <p:cNvSpPr/>
            <p:nvPr/>
          </p:nvSpPr>
          <p:spPr>
            <a:xfrm>
              <a:off x="2373841" y="1930400"/>
              <a:ext cx="5702300" cy="94335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360B3A1-14F1-9360-EF0E-54A23080AA77}"/>
                </a:ext>
              </a:extLst>
            </p:cNvPr>
            <p:cNvSpPr/>
            <p:nvPr/>
          </p:nvSpPr>
          <p:spPr>
            <a:xfrm>
              <a:off x="2513541" y="2036952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6E86C9C-51E3-CF1F-3AAB-47889B9D1CFD}"/>
                </a:ext>
              </a:extLst>
            </p:cNvPr>
            <p:cNvSpPr/>
            <p:nvPr/>
          </p:nvSpPr>
          <p:spPr>
            <a:xfrm>
              <a:off x="3439811" y="2033258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3</a:t>
              </a:r>
              <a:endParaRPr lang="zh-TW" altLang="en-US" b="1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87472C4-060F-57FB-31C5-743067A33E9E}"/>
                </a:ext>
              </a:extLst>
            </p:cNvPr>
            <p:cNvSpPr/>
            <p:nvPr/>
          </p:nvSpPr>
          <p:spPr>
            <a:xfrm>
              <a:off x="4355041" y="2033258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7</a:t>
              </a:r>
              <a:endParaRPr lang="zh-TW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881B68B-9126-1CF8-60CD-E0830BAC8509}"/>
                </a:ext>
              </a:extLst>
            </p:cNvPr>
            <p:cNvSpPr/>
            <p:nvPr/>
          </p:nvSpPr>
          <p:spPr>
            <a:xfrm>
              <a:off x="5320241" y="2033230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8ECD5B7-465E-A364-6F56-41E435FABA4A}"/>
                </a:ext>
              </a:extLst>
            </p:cNvPr>
            <p:cNvSpPr/>
            <p:nvPr/>
          </p:nvSpPr>
          <p:spPr>
            <a:xfrm>
              <a:off x="6240991" y="2033230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/>
                <a:t>5</a:t>
              </a:r>
              <a:endParaRPr lang="zh-TW" altLang="en-US" b="1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6EEB1D5-B8AE-23A8-2F39-D4F53550E6F3}"/>
                </a:ext>
              </a:extLst>
            </p:cNvPr>
            <p:cNvSpPr/>
            <p:nvPr/>
          </p:nvSpPr>
          <p:spPr>
            <a:xfrm>
              <a:off x="7161741" y="2033230"/>
              <a:ext cx="781050" cy="73025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10</a:t>
              </a:r>
              <a:endParaRPr lang="zh-TW" altLang="en-US" dirty="0"/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6567F98D-37CA-32E7-645A-5A016C5A153E}"/>
              </a:ext>
            </a:extLst>
          </p:cNvPr>
          <p:cNvGrpSpPr/>
          <p:nvPr/>
        </p:nvGrpSpPr>
        <p:grpSpPr>
          <a:xfrm>
            <a:off x="8509965" y="3222624"/>
            <a:ext cx="1862666" cy="1193801"/>
            <a:chOff x="677334" y="4035913"/>
            <a:chExt cx="2851150" cy="1886708"/>
          </a:xfrm>
        </p:grpSpPr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31321EA3-9494-ED0C-14E0-5F78A04412F4}"/>
                </a:ext>
              </a:extLst>
            </p:cNvPr>
            <p:cNvGrpSpPr/>
            <p:nvPr/>
          </p:nvGrpSpPr>
          <p:grpSpPr>
            <a:xfrm>
              <a:off x="677334" y="4035913"/>
              <a:ext cx="2851150" cy="943354"/>
              <a:chOff x="6026908" y="3557209"/>
              <a:chExt cx="2851150" cy="943354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C48B365-FF1C-9E0C-9AB1-07FC17793C64}"/>
                  </a:ext>
                </a:extLst>
              </p:cNvPr>
              <p:cNvSpPr/>
              <p:nvPr/>
            </p:nvSpPr>
            <p:spPr>
              <a:xfrm>
                <a:off x="6026908" y="3557209"/>
                <a:ext cx="2851150" cy="94335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B378F3D2-6F80-40C1-45BD-43C4F98A685C}"/>
                  </a:ext>
                </a:extLst>
              </p:cNvPr>
              <p:cNvSpPr/>
              <p:nvPr/>
            </p:nvSpPr>
            <p:spPr>
              <a:xfrm>
                <a:off x="6166608" y="3663761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5844830F-D462-95E8-3215-C34832BACF4D}"/>
                  </a:ext>
                </a:extLst>
              </p:cNvPr>
              <p:cNvSpPr/>
              <p:nvPr/>
            </p:nvSpPr>
            <p:spPr>
              <a:xfrm>
                <a:off x="7092878" y="3660067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/>
                  <a:t>3</a:t>
                </a:r>
                <a:endParaRPr lang="zh-TW" altLang="en-US" b="1" dirty="0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A8FAACA5-8E78-6FD7-EF83-8BB0421F64A2}"/>
                  </a:ext>
                </a:extLst>
              </p:cNvPr>
              <p:cNvSpPr/>
              <p:nvPr/>
            </p:nvSpPr>
            <p:spPr>
              <a:xfrm>
                <a:off x="8008108" y="3660067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7</a:t>
                </a:r>
                <a:endParaRPr lang="zh-TW" altLang="en-US" dirty="0"/>
              </a:p>
            </p:txBody>
          </p:sp>
        </p:grpSp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DA6F306F-A3EF-F33A-85AE-C2D0224CE557}"/>
                </a:ext>
              </a:extLst>
            </p:cNvPr>
            <p:cNvGrpSpPr/>
            <p:nvPr/>
          </p:nvGrpSpPr>
          <p:grpSpPr>
            <a:xfrm>
              <a:off x="677334" y="4979267"/>
              <a:ext cx="2851150" cy="943354"/>
              <a:chOff x="6026908" y="4547043"/>
              <a:chExt cx="2851150" cy="943354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2E89AB4-71E1-8B79-F4B8-E85C2CEDEF3A}"/>
                  </a:ext>
                </a:extLst>
              </p:cNvPr>
              <p:cNvSpPr/>
              <p:nvPr/>
            </p:nvSpPr>
            <p:spPr>
              <a:xfrm>
                <a:off x="6026908" y="4547043"/>
                <a:ext cx="2851150" cy="94335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4C792F1-5020-9EB6-33B1-E1E117BC56BF}"/>
                  </a:ext>
                </a:extLst>
              </p:cNvPr>
              <p:cNvSpPr/>
              <p:nvPr/>
            </p:nvSpPr>
            <p:spPr>
              <a:xfrm>
                <a:off x="6166608" y="4657348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2</a:t>
                </a:r>
                <a:endParaRPr lang="zh-TW" altLang="en-US" dirty="0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0BAC9512-D301-E4E0-B3DC-F719620F071C}"/>
                  </a:ext>
                </a:extLst>
              </p:cNvPr>
              <p:cNvSpPr/>
              <p:nvPr/>
            </p:nvSpPr>
            <p:spPr>
              <a:xfrm>
                <a:off x="7087358" y="4657348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/>
                  <a:t>5</a:t>
                </a:r>
                <a:endParaRPr lang="zh-TW" altLang="en-US" b="1" dirty="0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4D6F239-51A2-6CA6-D165-9E5841DA4562}"/>
                  </a:ext>
                </a:extLst>
              </p:cNvPr>
              <p:cNvSpPr/>
              <p:nvPr/>
            </p:nvSpPr>
            <p:spPr>
              <a:xfrm>
                <a:off x="8008108" y="4657348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10</a:t>
                </a:r>
                <a:endParaRPr lang="zh-TW" altLang="en-US" dirty="0"/>
              </a:p>
            </p:txBody>
          </p:sp>
        </p:grpSp>
      </p:grp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C8003410-308E-1537-3633-2DC264660CD3}"/>
              </a:ext>
            </a:extLst>
          </p:cNvPr>
          <p:cNvSpPr/>
          <p:nvPr/>
        </p:nvSpPr>
        <p:spPr>
          <a:xfrm>
            <a:off x="5676066" y="3429000"/>
            <a:ext cx="2024764" cy="78105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B6ACF9-E62B-9A7E-9689-77EE4D179E46}"/>
              </a:ext>
            </a:extLst>
          </p:cNvPr>
          <p:cNvSpPr/>
          <p:nvPr/>
        </p:nvSpPr>
        <p:spPr>
          <a:xfrm>
            <a:off x="5850248" y="4385009"/>
            <a:ext cx="1676400" cy="444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reshape(2,3)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910DA4-B7D9-D2F9-C9D1-9A066D17F545}"/>
              </a:ext>
            </a:extLst>
          </p:cNvPr>
          <p:cNvSpPr/>
          <p:nvPr/>
        </p:nvSpPr>
        <p:spPr>
          <a:xfrm>
            <a:off x="1778919" y="4735424"/>
            <a:ext cx="1676400" cy="444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1*6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3AEE4-9E31-300F-CFBB-0AB631B96D99}"/>
              </a:ext>
            </a:extLst>
          </p:cNvPr>
          <p:cNvSpPr/>
          <p:nvPr/>
        </p:nvSpPr>
        <p:spPr>
          <a:xfrm>
            <a:off x="8619692" y="4735424"/>
            <a:ext cx="1676400" cy="444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2*3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7592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BA688D-CE32-81C3-9F79-4B5E124BC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ndarray </a:t>
            </a:r>
            <a:r>
              <a:rPr lang="zh-TW" altLang="en-US" dirty="0"/>
              <a:t>資料讀取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D7827C-4E5D-914F-9DA2-2FEF109F0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a[2]</a:t>
            </a:r>
            <a:r>
              <a:rPr lang="zh-TW" altLang="en-US" dirty="0"/>
              <a:t> </a:t>
            </a:r>
            <a:r>
              <a:rPr lang="en-US" altLang="zh-TW" dirty="0"/>
              <a:t>#</a:t>
            </a:r>
            <a:r>
              <a:rPr lang="zh-TW" altLang="en-US" dirty="0"/>
              <a:t> 取</a:t>
            </a:r>
            <a:r>
              <a:rPr lang="en-US" altLang="zh-TW" dirty="0"/>
              <a:t>2</a:t>
            </a:r>
            <a:r>
              <a:rPr lang="zh-TW" altLang="en-US" dirty="0"/>
              <a:t>元素 同一般</a:t>
            </a:r>
            <a:r>
              <a:rPr lang="en-US" altLang="zh-TW" dirty="0"/>
              <a:t>list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/>
              <a:t>a[0 : 2] # </a:t>
            </a:r>
            <a:r>
              <a:rPr lang="zh-TW" altLang="en-US" dirty="0"/>
              <a:t>取</a:t>
            </a:r>
            <a:r>
              <a:rPr lang="en-US" altLang="zh-TW" dirty="0"/>
              <a:t>0</a:t>
            </a:r>
            <a:r>
              <a:rPr lang="zh-TW" altLang="en-US" dirty="0"/>
              <a:t> </a:t>
            </a:r>
            <a:r>
              <a:rPr lang="en-US" altLang="zh-TW" dirty="0"/>
              <a:t>~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r>
              <a:rPr lang="zh-TW" altLang="en-US" dirty="0"/>
              <a:t>元素 </a:t>
            </a:r>
            <a:endParaRPr lang="en-US" altLang="zh-TW" dirty="0"/>
          </a:p>
          <a:p>
            <a:r>
              <a:rPr lang="en-US" altLang="zh-TW" dirty="0"/>
              <a:t>a[0 : 2, 1]</a:t>
            </a:r>
            <a:r>
              <a:rPr lang="zh-TW" altLang="en-US" dirty="0"/>
              <a:t> </a:t>
            </a:r>
            <a:r>
              <a:rPr lang="en-US" altLang="zh-TW" dirty="0"/>
              <a:t>#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~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(axis 0)</a:t>
            </a:r>
            <a:r>
              <a:rPr lang="zh-TW" altLang="en-US" dirty="0"/>
              <a:t> 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00B0F0"/>
                </a:solidFill>
              </a:rPr>
              <a:t>1 (axis 1)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B6ACF9-E62B-9A7E-9689-77EE4D179E46}"/>
              </a:ext>
            </a:extLst>
          </p:cNvPr>
          <p:cNvSpPr/>
          <p:nvPr/>
        </p:nvSpPr>
        <p:spPr>
          <a:xfrm>
            <a:off x="7980387" y="3343983"/>
            <a:ext cx="1676400" cy="4445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a[0 : 2, 1]</a:t>
            </a:r>
            <a:endParaRPr lang="zh-TW" altLang="en-US" dirty="0"/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CEB8453C-519D-DB50-421D-49408953B58A}"/>
              </a:ext>
            </a:extLst>
          </p:cNvPr>
          <p:cNvGrpSpPr/>
          <p:nvPr/>
        </p:nvGrpSpPr>
        <p:grpSpPr>
          <a:xfrm>
            <a:off x="5553517" y="3397822"/>
            <a:ext cx="1836093" cy="2426711"/>
            <a:chOff x="536658" y="3642786"/>
            <a:chExt cx="1894096" cy="2858000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70F61E47-0419-E45A-2466-F03E798E3D22}"/>
                </a:ext>
              </a:extLst>
            </p:cNvPr>
            <p:cNvGrpSpPr/>
            <p:nvPr/>
          </p:nvGrpSpPr>
          <p:grpSpPr>
            <a:xfrm rot="5400000">
              <a:off x="-417240" y="4596684"/>
              <a:ext cx="2851150" cy="943354"/>
              <a:chOff x="6026908" y="3557209"/>
              <a:chExt cx="2851150" cy="943354"/>
            </a:xfrm>
          </p:grpSpPr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415CA90B-C496-153C-A89B-43B6C686FA83}"/>
                  </a:ext>
                </a:extLst>
              </p:cNvPr>
              <p:cNvSpPr/>
              <p:nvPr/>
            </p:nvSpPr>
            <p:spPr>
              <a:xfrm>
                <a:off x="6026908" y="3557209"/>
                <a:ext cx="2851150" cy="94335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F854E0A9-B199-16F6-2670-5DD2F2FF55AE}"/>
                  </a:ext>
                </a:extLst>
              </p:cNvPr>
              <p:cNvSpPr/>
              <p:nvPr/>
            </p:nvSpPr>
            <p:spPr>
              <a:xfrm>
                <a:off x="6166608" y="3663761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/>
                  <a:t>2</a:t>
                </a:r>
                <a:endParaRPr lang="zh-TW" altLang="en-US" dirty="0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DA47412B-A401-7346-984E-72B603E632AB}"/>
                  </a:ext>
                </a:extLst>
              </p:cNvPr>
              <p:cNvSpPr/>
              <p:nvPr/>
            </p:nvSpPr>
            <p:spPr>
              <a:xfrm>
                <a:off x="7092878" y="3660067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b="1" dirty="0"/>
                  <a:t>5</a:t>
                </a:r>
                <a:endParaRPr lang="zh-TW" altLang="en-US" b="1" dirty="0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46F69A2D-0285-9BDA-4249-EA298F25349C}"/>
                  </a:ext>
                </a:extLst>
              </p:cNvPr>
              <p:cNvSpPr/>
              <p:nvPr/>
            </p:nvSpPr>
            <p:spPr>
              <a:xfrm>
                <a:off x="8008108" y="3660067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/>
                  <a:t>5</a:t>
                </a:r>
                <a:endParaRPr lang="zh-TW" altLang="en-US" dirty="0"/>
              </a:p>
            </p:txBody>
          </p:sp>
        </p:grp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1C188FDC-B837-C91D-5CD9-8866DED88470}"/>
                </a:ext>
              </a:extLst>
            </p:cNvPr>
            <p:cNvGrpSpPr/>
            <p:nvPr/>
          </p:nvGrpSpPr>
          <p:grpSpPr>
            <a:xfrm rot="5400000">
              <a:off x="533502" y="4603534"/>
              <a:ext cx="2851150" cy="943354"/>
              <a:chOff x="6026908" y="4547043"/>
              <a:chExt cx="2851150" cy="943354"/>
            </a:xfrm>
          </p:grpSpPr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44544842-DB09-78A9-8ED7-F7DD60479674}"/>
                  </a:ext>
                </a:extLst>
              </p:cNvPr>
              <p:cNvSpPr/>
              <p:nvPr/>
            </p:nvSpPr>
            <p:spPr>
              <a:xfrm>
                <a:off x="6026908" y="4547043"/>
                <a:ext cx="2851150" cy="94335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8BEFBFCA-EC28-E12C-A2FF-6FF32F6F86AA}"/>
                  </a:ext>
                </a:extLst>
              </p:cNvPr>
              <p:cNvSpPr/>
              <p:nvPr/>
            </p:nvSpPr>
            <p:spPr>
              <a:xfrm>
                <a:off x="6166608" y="4657348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18A2428B-58C0-F899-F47E-EA924E084920}"/>
                  </a:ext>
                </a:extLst>
              </p:cNvPr>
              <p:cNvSpPr/>
              <p:nvPr/>
            </p:nvSpPr>
            <p:spPr>
              <a:xfrm>
                <a:off x="7087358" y="4657348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b="1" dirty="0"/>
                  <a:t>3</a:t>
                </a:r>
                <a:endParaRPr lang="zh-TW" altLang="en-US" b="1" dirty="0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D56E098C-3799-1D5C-5D8D-E7A46F430957}"/>
                  </a:ext>
                </a:extLst>
              </p:cNvPr>
              <p:cNvSpPr/>
              <p:nvPr/>
            </p:nvSpPr>
            <p:spPr>
              <a:xfrm>
                <a:off x="8008108" y="4657348"/>
                <a:ext cx="781050" cy="73025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dirty="0"/>
                  <a:t>3</a:t>
                </a:r>
                <a:endParaRPr lang="zh-TW" altLang="en-US" dirty="0"/>
              </a:p>
            </p:txBody>
          </p:sp>
        </p:grpSp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F1D9B26E-034C-D027-C6C9-0BF4855D3694}"/>
              </a:ext>
            </a:extLst>
          </p:cNvPr>
          <p:cNvSpPr/>
          <p:nvPr/>
        </p:nvSpPr>
        <p:spPr>
          <a:xfrm>
            <a:off x="5475170" y="3318577"/>
            <a:ext cx="2041667" cy="1685988"/>
          </a:xfrm>
          <a:prstGeom prst="rect">
            <a:avLst/>
          </a:prstGeom>
          <a:noFill/>
          <a:ln w="762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00A2181-772D-06DB-5AB8-E257F45975BB}"/>
              </a:ext>
            </a:extLst>
          </p:cNvPr>
          <p:cNvSpPr/>
          <p:nvPr/>
        </p:nvSpPr>
        <p:spPr>
          <a:xfrm>
            <a:off x="6467983" y="3397822"/>
            <a:ext cx="959758" cy="2487164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2840B7C5-583B-F631-EA4A-B0B7018ACAF0}"/>
              </a:ext>
            </a:extLst>
          </p:cNvPr>
          <p:cNvGrpSpPr/>
          <p:nvPr/>
        </p:nvGrpSpPr>
        <p:grpSpPr>
          <a:xfrm>
            <a:off x="10224185" y="3661445"/>
            <a:ext cx="922116" cy="1653065"/>
            <a:chOff x="10144469" y="3637999"/>
            <a:chExt cx="922116" cy="1653065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04059B00-E180-3ED3-D25A-2C00B3857572}"/>
                </a:ext>
              </a:extLst>
            </p:cNvPr>
            <p:cNvSpPr/>
            <p:nvPr/>
          </p:nvSpPr>
          <p:spPr>
            <a:xfrm rot="5400000">
              <a:off x="9778994" y="4003474"/>
              <a:ext cx="1653065" cy="9221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1AC0803E-8290-7139-DBF7-E5BE37CC3793}"/>
                </a:ext>
              </a:extLst>
            </p:cNvPr>
            <p:cNvSpPr/>
            <p:nvPr/>
          </p:nvSpPr>
          <p:spPr>
            <a:xfrm rot="5400000">
              <a:off x="10266471" y="3734266"/>
              <a:ext cx="663185" cy="70788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1E9113FA-D66D-F5F6-6A6F-1C57CBD7F813}"/>
                </a:ext>
              </a:extLst>
            </p:cNvPr>
            <p:cNvSpPr/>
            <p:nvPr/>
          </p:nvSpPr>
          <p:spPr>
            <a:xfrm rot="5400000">
              <a:off x="10266471" y="4516069"/>
              <a:ext cx="663185" cy="70788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TW" b="1" dirty="0"/>
                <a:t>3</a:t>
              </a:r>
              <a:endParaRPr lang="zh-TW" altLang="en-US" b="1" dirty="0"/>
            </a:p>
          </p:txBody>
        </p:sp>
      </p:grpSp>
      <p:sp>
        <p:nvSpPr>
          <p:cNvPr id="73" name="箭號: 向右 72">
            <a:extLst>
              <a:ext uri="{FF2B5EF4-FFF2-40B4-BE49-F238E27FC236}">
                <a16:creationId xmlns:a16="http://schemas.microsoft.com/office/drawing/2014/main" id="{30C9B5E2-36C9-9798-E8E1-D5DDF5B5D8A8}"/>
              </a:ext>
            </a:extLst>
          </p:cNvPr>
          <p:cNvSpPr/>
          <p:nvPr/>
        </p:nvSpPr>
        <p:spPr>
          <a:xfrm>
            <a:off x="7817628" y="4018672"/>
            <a:ext cx="1748403" cy="7729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3459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程式碼示範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https://colab.research.google.com/drive/1eUXg977N9LOQiGz6OU7oh57V5gUOHzHA?hl=zh-tw#scrollTo</a:t>
            </a:r>
            <a:r>
              <a:rPr lang="en-US" altLang="zh-TW">
                <a:hlinkClick r:id="rId2"/>
              </a:rPr>
              <a:t>=V26Nn1f0Vsdm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34684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9787DA-EE48-4A66-E96D-177CD2B5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9792E0-01CE-D355-F204-76BC5A075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https://www.youtube.com/watch?v=nJUMpIo5rmg&amp;list=PL-g0fdC5RMboq4yOQmvwYXamPDL4uZYEL</a:t>
            </a:r>
          </a:p>
          <a:p>
            <a:r>
              <a:rPr lang="en-US" altLang="zh-TW" dirty="0">
                <a:hlinkClick r:id="rId2"/>
              </a:rPr>
              <a:t>https://www.youtube.com/watch?v=QUT1VHiLmmI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https://numpy.org/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3047237"/>
      </p:ext>
    </p:extLst>
  </p:cSld>
  <p:clrMapOvr>
    <a:masterClrMapping/>
  </p:clrMapOvr>
</p:sld>
</file>

<file path=ppt/theme/theme1.xml><?xml version="1.0" encoding="utf-8"?>
<a:theme xmlns:a="http://schemas.openxmlformats.org/drawingml/2006/main" name="國泰">
  <a:themeElements>
    <a:clrScheme name="國泰輔助色">
      <a:dk1>
        <a:sysClr val="windowText" lastClr="000000"/>
      </a:dk1>
      <a:lt1>
        <a:sysClr val="window" lastClr="FFFFFF"/>
      </a:lt1>
      <a:dk2>
        <a:srgbClr val="FFF200"/>
      </a:dk2>
      <a:lt2>
        <a:srgbClr val="00A94F"/>
      </a:lt2>
      <a:accent1>
        <a:srgbClr val="004C8D"/>
      </a:accent1>
      <a:accent2>
        <a:srgbClr val="4F8940"/>
      </a:accent2>
      <a:accent3>
        <a:srgbClr val="FBC93E"/>
      </a:accent3>
      <a:accent4>
        <a:srgbClr val="8C297A"/>
      </a:accent4>
      <a:accent5>
        <a:srgbClr val="C53246"/>
      </a:accent5>
      <a:accent6>
        <a:srgbClr val="29A4B1"/>
      </a:accent6>
      <a:hlink>
        <a:srgbClr val="0000FF"/>
      </a:hlink>
      <a:folHlink>
        <a:srgbClr val="800080"/>
      </a:folHlink>
    </a:clrScheme>
    <a:fontScheme name="國泰字體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國泰" id="{A3408949-311A-4E54-A2AF-12F1AF9C0D55}" vid="{904A5D0A-1B34-43C4-BCBD-95B4CCEFC3C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國泰</Template>
  <TotalTime>3136</TotalTime>
  <Words>1340</Words>
  <Application>Microsoft Office PowerPoint</Application>
  <PresentationFormat>寬螢幕</PresentationFormat>
  <Paragraphs>205</Paragraphs>
  <Slides>15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國泰</vt:lpstr>
      <vt:lpstr>Python資料處理</vt:lpstr>
      <vt:lpstr>什麼是numpy、pandas</vt:lpstr>
      <vt:lpstr>Numpy ndarray與內建list之差別</vt:lpstr>
      <vt:lpstr>Numpy ndarray與內建list之差別</vt:lpstr>
      <vt:lpstr>安裝numpy</vt:lpstr>
      <vt:lpstr>numpy 建立 ndarray ( N-dimensional array )</vt:lpstr>
      <vt:lpstr>其他建立方法</vt:lpstr>
      <vt:lpstr>ndarray 屬性</vt:lpstr>
      <vt:lpstr>軸向</vt:lpstr>
      <vt:lpstr>ndarray 基礎運算</vt:lpstr>
      <vt:lpstr>ndarray 基礎運算</vt:lpstr>
      <vt:lpstr>ndarray 形狀操作</vt:lpstr>
      <vt:lpstr>ndarray 資料讀取</vt:lpstr>
      <vt:lpstr>程式碼示範</vt:lpstr>
      <vt:lpstr>參考資料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&amp; Pandas</dc:title>
  <dc:creator>isu10501122A</dc:creator>
  <cp:lastModifiedBy>isu10501122A</cp:lastModifiedBy>
  <cp:revision>50</cp:revision>
  <dcterms:created xsi:type="dcterms:W3CDTF">2023-07-25T12:06:03Z</dcterms:created>
  <dcterms:modified xsi:type="dcterms:W3CDTF">2023-09-20T15:48:00Z</dcterms:modified>
</cp:coreProperties>
</file>